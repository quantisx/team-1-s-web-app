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097280"/>
            <a:ext cx="6400800" cy="6400800"/>
          </a:xfrm>
          <a:prstGeom prst="ellipse">
            <a:avLst/>
          </a:prstGeom>
          <a:solidFill>
            <a:srgbClr val="9B6DFF">
              <a:alpha val="8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E0423A">
              <a:alpha val="7000"/>
            </a:srgbClr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1828800"/>
            <a:ext cx="4572000" cy="4572000"/>
          </a:xfrm>
          <a:prstGeom prst="ellipse">
            <a:avLst/>
          </a:prstGeom>
          <a:solidFill>
            <a:srgbClr val="4A8DF5">
              <a:alpha val="5000"/>
            </a:srgbClr>
          </a:solidFill>
          <a:ln w="12700">
            <a:solidFill>
              <a:srgbClr val="4A8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0423A"/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300" kern="0" dirty="0">
                <a:solidFill>
                  <a:srgbClr val="F8F8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HEALTHY HABITS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300" kern="0" dirty="0">
                <a:solidFill>
                  <a:srgbClr val="E04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TRACKER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371600" y="25420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648A"/>
                </a:solidFill>
              </a:rPr>
              <a:t>A full-stack Flask web application for tracking daily health habits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6350">
            <a:solidFill>
              <a:srgbClr val="2E2E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17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4648A"/>
                </a:solidFill>
              </a:rPr>
              <a:t>IT111  ·  Winter 2026  ·  Seattle Colleges  ·  Team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3456432"/>
            <a:ext cx="1417320" cy="246888"/>
          </a:xfrm>
          <a:prstGeom prst="rect">
            <a:avLst/>
          </a:prstGeom>
          <a:solidFill>
            <a:srgbClr val="E0423A">
              <a:alpha val="18000"/>
            </a:srgbClr>
          </a:solidFill>
          <a:ln w="9525">
            <a:solidFill>
              <a:srgbClr val="E04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5643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423A"/>
                </a:solidFill>
              </a:rPr>
              <a:t>Quantis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13432" y="3456432"/>
            <a:ext cx="1417320" cy="246888"/>
          </a:xfrm>
          <a:prstGeom prst="rect">
            <a:avLst/>
          </a:prstGeom>
          <a:solidFill>
            <a:srgbClr val="4A8DF5">
              <a:alpha val="18000"/>
            </a:srgbClr>
          </a:solidFill>
          <a:ln w="9525">
            <a:solidFill>
              <a:srgbClr val="4A8D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13432" y="345643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8DF5"/>
                </a:solidFill>
              </a:rPr>
              <a:t>Elida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9624" y="3456432"/>
            <a:ext cx="1417320" cy="246888"/>
          </a:xfrm>
          <a:prstGeom prst="rect">
            <a:avLst/>
          </a:prstGeom>
          <a:solidFill>
            <a:srgbClr val="9B6DFF">
              <a:alpha val="18000"/>
            </a:srgbClr>
          </a:solidFill>
          <a:ln w="9525">
            <a:solidFill>
              <a:srgbClr val="9B6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9624" y="345643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DFF"/>
                </a:solidFill>
              </a:rPr>
              <a:t>Thaina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85816" y="3456432"/>
            <a:ext cx="1417320" cy="246888"/>
          </a:xfrm>
          <a:prstGeom prst="rect">
            <a:avLst/>
          </a:prstGeom>
          <a:solidFill>
            <a:srgbClr val="F59E0B">
              <a:alpha val="18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5816" y="345643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Anthony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22008" y="3456432"/>
            <a:ext cx="1417320" cy="246888"/>
          </a:xfrm>
          <a:prstGeom prst="rect">
            <a:avLst/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345643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Sesilina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58000" y="39776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648A"/>
                </a:solidFill>
              </a:rPr>
              <a:t>Due: Mar 17,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423A"/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8F8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0423A"/>
                </a:solidFill>
              </a:rPr>
              <a:t>WHAT WE BUILT &amp; WHY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8138160" cy="0"/>
          </a:xfrm>
          <a:prstGeom prst="line">
            <a:avLst/>
          </a:prstGeom>
          <a:noFill/>
          <a:ln w="6350">
            <a:solidFill>
              <a:srgbClr val="2E2E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05840"/>
            <a:ext cx="8138160" cy="685800"/>
          </a:xfrm>
          <a:prstGeom prst="rect">
            <a:avLst/>
          </a:prstGeom>
          <a:solidFill>
            <a:srgbClr val="10101E"/>
          </a:solidFill>
          <a:ln w="12700">
            <a:solidFill>
              <a:srgbClr val="E0423A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423A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8F8F2"/>
                </a:solidFill>
              </a:rPr>
              <a:t>People struggle to consistently track daily health habits — water intake, exercise, sleep, and nutrition. Most existing apps are too complex for everyday users.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2651760" cy="1874520"/>
          </a:xfrm>
          <a:prstGeom prst="rect">
            <a:avLst/>
          </a:prstGeom>
          <a:solidFill>
            <a:srgbClr val="10101E"/>
          </a:solidFill>
          <a:ln w="12700">
            <a:solidFill>
              <a:srgbClr val="E0423A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874520"/>
            <a:ext cx="50292" cy="1874520"/>
          </a:xfrm>
          <a:prstGeom prst="rect">
            <a:avLst/>
          </a:prstGeom>
          <a:solidFill>
            <a:srgbClr val="E0423A"/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9385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0423A"/>
                </a:solidFill>
              </a:rPr>
              <a:t>PROJECT NAME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67512" y="2212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8F2"/>
                </a:solidFill>
              </a:rPr>
              <a:t>Healthy Habits Tracker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Flask web app — Python backend, SQLite database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55848" y="1874520"/>
            <a:ext cx="2651760" cy="1874520"/>
          </a:xfrm>
          <a:prstGeom prst="rect">
            <a:avLst/>
          </a:prstGeom>
          <a:solidFill>
            <a:srgbClr val="10101E"/>
          </a:solidFill>
          <a:ln w="12700">
            <a:solidFill>
              <a:srgbClr val="4A8DF5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55848" y="1874520"/>
            <a:ext cx="50292" cy="1874520"/>
          </a:xfrm>
          <a:prstGeom prst="rect">
            <a:avLst/>
          </a:prstGeom>
          <a:solidFill>
            <a:srgbClr val="4A8DF5"/>
          </a:solidFill>
          <a:ln w="12700">
            <a:solidFill>
              <a:srgbClr val="4A8D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9385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A8DF5"/>
                </a:solidFill>
              </a:rPr>
              <a:t>TARGET USERS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520440" y="2212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8F2"/>
                </a:solidFill>
              </a:rPr>
              <a:t>Students &amp; Busy Professionals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Anyone building daily routines without complex tools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08776" y="1874520"/>
            <a:ext cx="2651760" cy="1874520"/>
          </a:xfrm>
          <a:prstGeom prst="rect">
            <a:avLst/>
          </a:prstGeom>
          <a:solidFill>
            <a:srgbClr val="10101E"/>
          </a:solidFill>
          <a:ln w="12700">
            <a:solidFill>
              <a:srgbClr val="9B6DFF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08776" y="1874520"/>
            <a:ext cx="50292" cy="1874520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19385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B6DFF"/>
                </a:solidFill>
              </a:rPr>
              <a:t>CORE PURPOSE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73368" y="22128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8F2"/>
                </a:solidFill>
              </a:rPr>
              <a:t>Track. Analyze. Improve.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73368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Log daily habits and visualize progress over time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39136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4648A"/>
                </a:solidFill>
              </a:rPr>
              <a:t>MOTIVATION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0352" y="4187952"/>
            <a:ext cx="128016" cy="128016"/>
          </a:xfrm>
          <a:prstGeom prst="ellipse">
            <a:avLst/>
          </a:prstGeom>
          <a:solidFill>
            <a:srgbClr val="E0423A"/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14223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4D4"/>
                </a:solidFill>
              </a:rPr>
              <a:t>No single lightweight app to track gym + sleep + nutrition + water in one place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0352" y="4462272"/>
            <a:ext cx="128016" cy="128016"/>
          </a:xfrm>
          <a:prstGeom prst="ellipse">
            <a:avLst/>
          </a:prstGeom>
          <a:solidFill>
            <a:srgbClr val="E0423A"/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4165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4D4"/>
                </a:solidFill>
              </a:rPr>
              <a:t>School project that mirrors a real-world full-stack product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0352" y="4736592"/>
            <a:ext cx="128016" cy="128016"/>
          </a:xfrm>
          <a:prstGeom prst="ellipse">
            <a:avLst/>
          </a:prstGeom>
          <a:solidFill>
            <a:srgbClr val="E0423A"/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6908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4D4"/>
                </a:solidFill>
              </a:rPr>
              <a:t>Opportunity to learn Flask, SQLAlchemy, Chart.js, and team Git workflow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8DF5"/>
          </a:solidFill>
          <a:ln w="12700">
            <a:solidFill>
              <a:srgbClr val="4A8D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8F8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4A8DF5"/>
                </a:solidFill>
              </a:rPr>
              <a:t>WHAT MAKES THIS APP UNIQUE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8138160" cy="0"/>
          </a:xfrm>
          <a:prstGeom prst="line">
            <a:avLst/>
          </a:prstGeom>
          <a:noFill/>
          <a:ln w="6350">
            <a:solidFill>
              <a:srgbClr val="2E2E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4160520" cy="1143000"/>
          </a:xfrm>
          <a:prstGeom prst="rect">
            <a:avLst/>
          </a:prstGeom>
          <a:solidFill>
            <a:srgbClr val="10101E"/>
          </a:solidFill>
          <a:ln w="12700">
            <a:solidFill>
              <a:srgbClr val="4A8DF5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87552"/>
            <a:ext cx="50292" cy="1143000"/>
          </a:xfrm>
          <a:prstGeom prst="rect">
            <a:avLst/>
          </a:prstGeom>
          <a:solidFill>
            <a:srgbClr val="4A8DF5"/>
          </a:solidFill>
          <a:ln w="12700">
            <a:solidFill>
              <a:srgbClr val="4A8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987552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0607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8DF5"/>
                </a:solidFill>
              </a:rPr>
              <a:t>User Authentication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371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Sign up / Login with Flask sessions. Protected routes via login_required decorator.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18888" y="987552"/>
            <a:ext cx="4160520" cy="1143000"/>
          </a:xfrm>
          <a:prstGeom prst="rect">
            <a:avLst/>
          </a:prstGeom>
          <a:solidFill>
            <a:srgbClr val="10101E"/>
          </a:solidFill>
          <a:ln w="12700">
            <a:solidFill>
              <a:srgbClr val="E0423A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888" y="987552"/>
            <a:ext cx="50292" cy="1143000"/>
          </a:xfrm>
          <a:prstGeom prst="rect">
            <a:avLst/>
          </a:prstGeom>
          <a:solidFill>
            <a:srgbClr val="E0423A"/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987552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96128" y="10607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423A"/>
                </a:solidFill>
              </a:rPr>
              <a:t>Multi-Field Habit Logging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96128" y="1371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Sleep (hours + quality), exercise type (multi-select), water cups, nutrition, notes.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313432"/>
            <a:ext cx="4160520" cy="1143000"/>
          </a:xfrm>
          <a:prstGeom prst="rect">
            <a:avLst/>
          </a:prstGeom>
          <a:solidFill>
            <a:srgbClr val="10101E"/>
          </a:solidFill>
          <a:ln w="12700">
            <a:solidFill>
              <a:srgbClr val="9B6DFF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13432"/>
            <a:ext cx="50292" cy="1143000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313432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2386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DFF"/>
                </a:solidFill>
              </a:rPr>
              <a:t>Stats Dashboard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2697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6 KPI cards, Chart.js bar + line + grouped bar charts, doughnut consistency rings.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18888" y="2313432"/>
            <a:ext cx="4160520" cy="1143000"/>
          </a:xfrm>
          <a:prstGeom prst="rect">
            <a:avLst/>
          </a:prstGeom>
          <a:solidFill>
            <a:srgbClr val="10101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18888" y="2313432"/>
            <a:ext cx="5029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313432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96128" y="2386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Streak Tracking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96128" y="2697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Current streak + all-time best for exercise and food. Any exercise type counts.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639312"/>
            <a:ext cx="4160520" cy="1143000"/>
          </a:xfrm>
          <a:prstGeom prst="rect">
            <a:avLst/>
          </a:prstGeom>
          <a:solidFill>
            <a:srgbClr val="10101E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639312"/>
            <a:ext cx="50292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639312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34440" y="37124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History Table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34440" y="40233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Dark table with sleep quality badge, exercise ✔/✘, color-coded water, View/Edit/Delete.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18888" y="3639312"/>
            <a:ext cx="4160520" cy="1143000"/>
          </a:xfrm>
          <a:prstGeom prst="rect">
            <a:avLst/>
          </a:prstGeom>
          <a:solidFill>
            <a:srgbClr val="10101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18888" y="3639312"/>
            <a:ext cx="50292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639312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596128" y="371246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Flash Messages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96128" y="40233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Success, error, warning, info toasts injected via base.html — consistent across all pages.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solidFill>
            <a:srgbClr val="4A8DF5">
              <a:alpha val="10000"/>
            </a:srgbClr>
          </a:solidFill>
          <a:ln w="9525">
            <a:solidFill>
              <a:srgbClr val="4A8D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8DF5"/>
                </a:solidFill>
              </a:rPr>
              <a:t>★  Advanced: Multi-select exercise stored as comma-separated string · Chart.js loaded via dynamic script injection · Style blocks in &lt;head&gt; via {% block styles %}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8F8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B6DFF"/>
                </a:solidFill>
              </a:rPr>
              <a:t>HOW THE SYSTEM IS STRUCTURED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8138160" cy="0"/>
          </a:xfrm>
          <a:prstGeom prst="line">
            <a:avLst/>
          </a:prstGeom>
          <a:noFill/>
          <a:ln w="6350">
            <a:solidFill>
              <a:srgbClr val="2E2E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1965960" cy="1463040"/>
          </a:xfrm>
          <a:prstGeom prst="rect">
            <a:avLst/>
          </a:prstGeom>
          <a:solidFill>
            <a:srgbClr val="18182A"/>
          </a:solidFill>
          <a:ln w="12700">
            <a:solidFill>
              <a:srgbClr val="4A8DF5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87552"/>
            <a:ext cx="1965960" cy="347472"/>
          </a:xfrm>
          <a:prstGeom prst="rect">
            <a:avLst/>
          </a:prstGeom>
          <a:solidFill>
            <a:srgbClr val="4A8DF5">
              <a:alpha val="18000"/>
            </a:srgbClr>
          </a:solidFill>
          <a:ln w="12700">
            <a:solidFill>
              <a:srgbClr val="4A8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8DF5"/>
                </a:solidFill>
              </a:rPr>
              <a:t>Browser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HTML · CSS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Jinja2 Templates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23160" y="1554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2E48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78608" y="987552"/>
            <a:ext cx="1965960" cy="1463040"/>
          </a:xfrm>
          <a:prstGeom prst="rect">
            <a:avLst/>
          </a:prstGeom>
          <a:solidFill>
            <a:srgbClr val="18182A"/>
          </a:solidFill>
          <a:ln w="12700">
            <a:solidFill>
              <a:srgbClr val="E0423A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987552"/>
            <a:ext cx="1965960" cy="347472"/>
          </a:xfrm>
          <a:prstGeom prst="rect">
            <a:avLst/>
          </a:prstGeom>
          <a:solidFill>
            <a:srgbClr val="E0423A">
              <a:alpha val="18000"/>
            </a:srgbClr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9875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423A"/>
                </a:solidFill>
              </a:rPr>
              <a:t>Flask (app.py)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70048" y="141732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Routes · Decorators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Session Auth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44568" y="1554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2E4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0016" y="987552"/>
            <a:ext cx="1965960" cy="1463040"/>
          </a:xfrm>
          <a:prstGeom prst="rect">
            <a:avLst/>
          </a:prstGeom>
          <a:solidFill>
            <a:srgbClr val="18182A"/>
          </a:solidFill>
          <a:ln w="12700">
            <a:solidFill>
              <a:srgbClr val="9B6DFF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0016" y="987552"/>
            <a:ext cx="1965960" cy="347472"/>
          </a:xfrm>
          <a:prstGeom prst="rect">
            <a:avLst/>
          </a:prstGeom>
          <a:solidFill>
            <a:srgbClr val="9B6DFF">
              <a:alpha val="18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9875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6DFF"/>
                </a:solidFill>
              </a:rPr>
              <a:t>SQLAlchemy ORM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1456" y="141732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HabitEntry 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User Model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65976" y="1554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2E48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21424" y="987552"/>
            <a:ext cx="1965960" cy="1463040"/>
          </a:xfrm>
          <a:prstGeom prst="rect">
            <a:avLst/>
          </a:prstGeom>
          <a:solidFill>
            <a:srgbClr val="18182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21424" y="987552"/>
            <a:ext cx="1965960" cy="34747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1424" y="9875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SQLite DB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12864" y="141732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instance/app.db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Auto-created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633472"/>
            <a:ext cx="3977640" cy="2304288"/>
          </a:xfrm>
          <a:prstGeom prst="rect">
            <a:avLst/>
          </a:prstGeom>
          <a:solidFill>
            <a:srgbClr val="18182A"/>
          </a:solidFill>
          <a:ln w="12700">
            <a:solidFill>
              <a:srgbClr val="E0423A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633472"/>
            <a:ext cx="3977640" cy="320040"/>
          </a:xfrm>
          <a:prstGeom prst="rect">
            <a:avLst/>
          </a:prstGeom>
          <a:solidFill>
            <a:srgbClr val="E0423A">
              <a:alpha val="18000"/>
            </a:srgbClr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6334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E0423A"/>
                </a:solidFill>
              </a:rPr>
              <a:t>POST / REDIRECT / GET PATTERN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3035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2"/>
                </a:solidFill>
              </a:rPr>
              <a:t>1  POST /log  →  validate &amp; save to DB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4360" y="3447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2"/>
                </a:solidFill>
              </a:rPr>
              <a:t>2  REDIRECT  →  /history (HTTP 302)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4360" y="3858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8F2"/>
                </a:solidFill>
              </a:rPr>
              <a:t>3  GET /history  →  render fresh page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4270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✔  Prevents duplicate on browser refresh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2633472"/>
            <a:ext cx="4114800" cy="2304288"/>
          </a:xfrm>
          <a:prstGeom prst="rect">
            <a:avLst/>
          </a:prstGeom>
          <a:solidFill>
            <a:srgbClr val="18182A"/>
          </a:solidFill>
          <a:ln w="12700">
            <a:solidFill>
              <a:srgbClr val="4A8DF5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2633472"/>
            <a:ext cx="4114800" cy="320040"/>
          </a:xfrm>
          <a:prstGeom prst="rect">
            <a:avLst/>
          </a:prstGeom>
          <a:solidFill>
            <a:srgbClr val="4A8DF5">
              <a:alpha val="18000"/>
            </a:srgbClr>
          </a:solidFill>
          <a:ln w="12700">
            <a:solidFill>
              <a:srgbClr val="4A8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2633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4A8DF5"/>
                </a:solidFill>
              </a:rPr>
              <a:t>FLASK ROUTES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360920" y="30358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8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home()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09160" y="3355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GET|POST /log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60920" y="33558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8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add_entry()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09160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/history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360920" y="36758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8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index()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09160" y="3995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/log/&lt;id&gt;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360920" y="3995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8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detail()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0916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GET|POST /log/&lt;id&gt;/edit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60920" y="43159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8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edit_entry()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09160" y="4636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/stats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360920" y="4636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8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get_stats()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8F8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B8A6"/>
                </a:solidFill>
              </a:rPr>
              <a:t>TABLES, RELATIONSHIPS &amp; ORM USAGE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8138160" cy="0"/>
          </a:xfrm>
          <a:prstGeom prst="line">
            <a:avLst/>
          </a:prstGeom>
          <a:noFill/>
          <a:ln w="6350">
            <a:solidFill>
              <a:srgbClr val="2E2E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3017520" cy="2560320"/>
          </a:xfrm>
          <a:prstGeom prst="rect">
            <a:avLst/>
          </a:prstGeom>
          <a:solidFill>
            <a:srgbClr val="18182A"/>
          </a:solidFill>
          <a:ln w="12700">
            <a:solidFill>
              <a:srgbClr val="4A8DF5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87552"/>
            <a:ext cx="3017520" cy="347472"/>
          </a:xfrm>
          <a:prstGeom prst="rect">
            <a:avLst/>
          </a:prstGeom>
          <a:solidFill>
            <a:srgbClr val="4A8DF5">
              <a:alpha val="18000"/>
            </a:srgbClr>
          </a:solidFill>
          <a:ln w="12700">
            <a:solidFill>
              <a:srgbClr val="4A8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8DF5"/>
                </a:solidFill>
              </a:rPr>
              <a:t>USER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4356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1435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648A"/>
                </a:solidFill>
              </a:rPr>
              <a:t>Integer  PK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20299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2029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648A"/>
                </a:solidFill>
              </a:rPr>
              <a:t>String(80)  UNIQUE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1792" y="26243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74520" y="2624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648A"/>
                </a:solidFill>
              </a:rPr>
              <a:t>String(200)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93008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648A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2176272"/>
            <a:ext cx="731520" cy="0"/>
          </a:xfrm>
          <a:prstGeom prst="line">
            <a:avLst/>
          </a:prstGeom>
          <a:noFill/>
          <a:ln w="12700">
            <a:solidFill>
              <a:srgbClr val="2E2E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648A"/>
                </a:solidFill>
              </a:rPr>
              <a:t>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987552"/>
            <a:ext cx="4389120" cy="3977640"/>
          </a:xfrm>
          <a:prstGeom prst="rect">
            <a:avLst/>
          </a:prstGeom>
          <a:solidFill>
            <a:srgbClr val="18182A"/>
          </a:solidFill>
          <a:ln w="12700">
            <a:solidFill>
              <a:srgbClr val="E0423A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0" y="987552"/>
            <a:ext cx="4389120" cy="347472"/>
          </a:xfrm>
          <a:prstGeom prst="rect">
            <a:avLst/>
          </a:prstGeom>
          <a:solidFill>
            <a:srgbClr val="E0423A">
              <a:alpha val="18000"/>
            </a:srgbClr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98755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423A"/>
                </a:solidFill>
              </a:rPr>
              <a:t>HABIT ENTRY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62272" y="1426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601968" y="142646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648A"/>
                </a:solidFill>
              </a:rPr>
              <a:t>Integer  PK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62272" y="16916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01968" y="169164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648A"/>
                </a:solidFill>
              </a:rPr>
              <a:t>Date  UNIQUE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462272" y="19568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4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601968" y="195681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648A"/>
                </a:solidFill>
              </a:rPr>
              <a:t>Boolean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462272" y="2221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8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601968" y="2221992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648A"/>
                </a:solidFill>
              </a:rPr>
              <a:t>Integer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62272" y="24871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healthy_food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601968" y="248716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648A"/>
                </a:solidFill>
              </a:rPr>
              <a:t>Boolean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62272" y="27523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sleep_hours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601968" y="275234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648A"/>
                </a:solidFill>
              </a:rPr>
              <a:t>Float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62272" y="30175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sleep_quality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601968" y="301752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648A"/>
                </a:solidFill>
              </a:rPr>
              <a:t>String  (great/ok/bad)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62272" y="32826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4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exercise_type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601968" y="328269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648A"/>
                </a:solidFill>
              </a:rPr>
              <a:t>String  (comma-separated)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62272" y="3547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4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exercise_duration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601968" y="3547872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648A"/>
                </a:solidFill>
              </a:rPr>
              <a:t>Integer  (minutes)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462272" y="38130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meals_count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601968" y="3813048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648A"/>
                </a:solidFill>
              </a:rPr>
              <a:t>Integer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62272" y="40782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fruits_veg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601968" y="407822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648A"/>
                </a:solidFill>
              </a:rPr>
              <a:t>Integer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462272" y="43434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6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601968" y="434340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648A"/>
                </a:solidFill>
              </a:rPr>
              <a:t>String(300)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3675888"/>
            <a:ext cx="3017520" cy="914400"/>
          </a:xfrm>
          <a:prstGeom prst="rect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37216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4B8A6"/>
                </a:solidFill>
              </a:rPr>
              <a:t>ORM USAGE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94360" y="39319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Flask-SQLAlchemy 3.1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db.create_all() on startup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Query: HabitEntry.query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.order_by().all()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8F8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NOTABLE ALGORITHMS &amp; LOGIC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9E0B"/>
                </a:solidFill>
              </a:rPr>
              <a:t>BACKEND INTELLIGENCE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8138160" cy="0"/>
          </a:xfrm>
          <a:prstGeom prst="line">
            <a:avLst/>
          </a:prstGeom>
          <a:noFill/>
          <a:ln w="6350">
            <a:solidFill>
              <a:srgbClr val="2E2E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8229600" cy="1188720"/>
          </a:xfrm>
          <a:prstGeom prst="rect">
            <a:avLst/>
          </a:prstGeom>
          <a:solidFill>
            <a:srgbClr val="10101E"/>
          </a:solidFill>
          <a:ln w="12700">
            <a:solidFill>
              <a:srgbClr val="E0423A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87552"/>
            <a:ext cx="50292" cy="1188720"/>
          </a:xfrm>
          <a:prstGeom prst="rect">
            <a:avLst/>
          </a:prstGeom>
          <a:solidFill>
            <a:srgbClr val="E0423A"/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78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23A"/>
                </a:solidFill>
              </a:rPr>
              <a:t>Exercise Streak — Current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426464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423A"/>
                </a:solidFill>
              </a:rPr>
              <a:t>1.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96112" y="1426464"/>
            <a:ext cx="7498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</a:rPr>
              <a:t>Sort entries by date, newest first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1609344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423A"/>
                </a:solidFill>
              </a:rPr>
              <a:t>2.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96112" y="1609344"/>
            <a:ext cx="7498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</a:rPr>
              <a:t>Walk back from today — check consecutive days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8368" y="1792224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423A"/>
                </a:solidFill>
              </a:rPr>
              <a:t>3.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96112" y="1792224"/>
            <a:ext cx="7498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</a:rPr>
              <a:t>Count days where exercise_type ≠ 'none' and ≠ 'rest'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58368" y="1975104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423A"/>
                </a:solidFill>
              </a:rPr>
              <a:t>4.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96112" y="1975104"/>
            <a:ext cx="7498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</a:rPr>
              <a:t>Break at first gap or non-exercise day → return count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8229600" cy="1188720"/>
          </a:xfrm>
          <a:prstGeom prst="rect">
            <a:avLst/>
          </a:prstGeom>
          <a:solidFill>
            <a:srgbClr val="10101E"/>
          </a:solidFill>
          <a:ln w="12700">
            <a:solidFill>
              <a:srgbClr val="9B6DFF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331720"/>
            <a:ext cx="50292" cy="1188720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423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6DFF"/>
                </a:solidFill>
              </a:rPr>
              <a:t>Best Streak — All-Time Record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2770632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DFF"/>
                </a:solidFill>
              </a:rPr>
              <a:t>1.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96112" y="2770632"/>
            <a:ext cx="7498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</a:rPr>
              <a:t>Sort entries ascending by date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58368" y="2953512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DFF"/>
                </a:solidFill>
              </a:rPr>
              <a:t>2.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96112" y="2953512"/>
            <a:ext cx="7498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</a:rPr>
              <a:t>For each entry: if diff from prev = 1 day → current++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58368" y="3136392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DFF"/>
                </a:solidFill>
              </a:rPr>
              <a:t>3.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96112" y="3136392"/>
            <a:ext cx="7498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</a:rPr>
              <a:t>Track running best = max(best, current)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368" y="3319272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DFF"/>
                </a:solidFill>
              </a:rPr>
              <a:t>4.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96112" y="3319272"/>
            <a:ext cx="7498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</a:rPr>
              <a:t>Works for both exercise streak and healthy food streak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675888"/>
            <a:ext cx="8229600" cy="1188720"/>
          </a:xfrm>
          <a:prstGeom prst="rect">
            <a:avLst/>
          </a:prstGeom>
          <a:solidFill>
            <a:srgbClr val="10101E"/>
          </a:solidFill>
          <a:ln w="12700">
            <a:solidFill>
              <a:srgbClr val="4A8DF5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675888"/>
            <a:ext cx="50292" cy="1188720"/>
          </a:xfrm>
          <a:prstGeom prst="rect">
            <a:avLst/>
          </a:prstGeom>
          <a:solidFill>
            <a:srgbClr val="4A8DF5"/>
          </a:solidFill>
          <a:ln w="12700">
            <a:solidFill>
              <a:srgbClr val="4A8D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7673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8DF5"/>
                </a:solidFill>
              </a:rPr>
              <a:t>Stats Computation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4114800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8DF5"/>
                </a:solidFill>
              </a:rPr>
              <a:t>1.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96112" y="4114800"/>
            <a:ext cx="7498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</a:rPr>
              <a:t>exercise_pct = exercise_count / total × 100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8368" y="4297680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8DF5"/>
                </a:solidFill>
              </a:rPr>
              <a:t>2.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96112" y="4297680"/>
            <a:ext cx="7498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</a:rPr>
              <a:t>avg_water = sum(water) / total  →  rounded to 1 decimal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58368" y="4480560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8DF5"/>
                </a:solidFill>
              </a:rPr>
              <a:t>3.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96112" y="4480560"/>
            <a:ext cx="7498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</a:rPr>
              <a:t>water_goal_pct = entries with water ≥ 8 / total × 100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58368" y="4663440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8DF5"/>
                </a:solidFill>
              </a:rPr>
              <a:t>4.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96112" y="4663440"/>
            <a:ext cx="7498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C4D4"/>
                </a:solidFill>
              </a:rPr>
              <a:t>Chart data = last 7 entries sliced from sorted queryset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4956048"/>
            <a:ext cx="8229600" cy="274320"/>
          </a:xfrm>
          <a:prstGeom prst="rect">
            <a:avLst/>
          </a:prstGeom>
          <a:solidFill>
            <a:srgbClr val="F59E0B">
              <a:alpha val="1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9560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Auth: login_required decorator wraps protected routes · session['user'] persists across requests · PRG pattern prevents duplicate form submissions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8F8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 PROCESS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22C55E"/>
                </a:solidFill>
              </a:rPr>
              <a:t>CHALLENGES, SOLUTIONS &amp; LEARNINGS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8138160" cy="0"/>
          </a:xfrm>
          <a:prstGeom prst="line">
            <a:avLst/>
          </a:prstGeom>
          <a:noFill/>
          <a:ln w="6350">
            <a:solidFill>
              <a:srgbClr val="2E2E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8229600" cy="685800"/>
          </a:xfrm>
          <a:prstGeom prst="rect">
            <a:avLst/>
          </a:prstGeom>
          <a:solidFill>
            <a:srgbClr val="10101E"/>
          </a:solidFill>
          <a:ln w="12700">
            <a:solidFill>
              <a:srgbClr val="E0423A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87552"/>
            <a:ext cx="50292" cy="685800"/>
          </a:xfrm>
          <a:prstGeom prst="rect">
            <a:avLst/>
          </a:prstGeom>
          <a:solidFill>
            <a:srgbClr val="E0423A"/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0332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423A"/>
                </a:solidFill>
              </a:rPr>
              <a:t>⚠  SQLite Date Type Error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1307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</a:rPr>
              <a:t>✓  Fix: date_type.fromisoformat() converts string → Python date before DB insert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8229600" cy="685800"/>
          </a:xfrm>
          <a:prstGeom prst="rect">
            <a:avLst/>
          </a:prstGeom>
          <a:solidFill>
            <a:srgbClr val="10101E"/>
          </a:solidFill>
          <a:ln w="12700">
            <a:solidFill>
              <a:srgbClr val="4A8DF5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92224"/>
            <a:ext cx="50292" cy="685800"/>
          </a:xfrm>
          <a:prstGeom prst="rect">
            <a:avLst/>
          </a:prstGeom>
          <a:solidFill>
            <a:srgbClr val="4A8DF5"/>
          </a:solidFill>
          <a:ln w="12700">
            <a:solidFill>
              <a:srgbClr val="4A8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83794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8DF5"/>
                </a:solidFill>
              </a:rPr>
              <a:t>⚠  url_for() Breaking Navigation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" y="21122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</a:rPr>
              <a:t>✓  Fix: Replaced dynamic url_for() with direct paths in base.html navbar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8229600" cy="685800"/>
          </a:xfrm>
          <a:prstGeom prst="rect">
            <a:avLst/>
          </a:prstGeom>
          <a:solidFill>
            <a:srgbClr val="10101E"/>
          </a:solidFill>
          <a:ln w="12700">
            <a:solidFill>
              <a:srgbClr val="9B6DFF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96896"/>
            <a:ext cx="50292" cy="685800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6426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6DFF"/>
                </a:solidFill>
              </a:rPr>
              <a:t>⚠  Chart.js Not Rendering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29169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</a:rPr>
              <a:t>✓  Fix: s.onload = initCharts() — script injected dynamically, fires only after CDN loads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01568"/>
            <a:ext cx="8229600" cy="685800"/>
          </a:xfrm>
          <a:prstGeom prst="rect">
            <a:avLst/>
          </a:prstGeom>
          <a:solidFill>
            <a:srgbClr val="10101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01568"/>
            <a:ext cx="5029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4472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⚠  Exercise Multi-Select UI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3721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</a:rPr>
              <a:t>✓  Fix: Radio → Checkboxes, getlist(), comma-separated string stored in DB field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10101E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50292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251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⚠  CSS Style Block Conflicts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</a:rPr>
              <a:t>✓  Fix: Moved &lt;style&gt; to {% block styles %} in &lt;head&gt; via base.html inheritance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937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648A"/>
                </a:solidFill>
              </a:rPr>
              <a:t>KEY LEARNINGS  →  Full-stack Flask · Git team workflow · SQL schema design · async JS · CSS architecture · Chart.js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8F8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DEMONSTRATION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14B8A6"/>
                </a:solidFill>
              </a:rPr>
              <a:t>WALK-THROUGH OF KEY FEATURES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8138160" cy="0"/>
          </a:xfrm>
          <a:prstGeom prst="line">
            <a:avLst/>
          </a:prstGeom>
          <a:noFill/>
          <a:ln w="6350">
            <a:solidFill>
              <a:srgbClr val="2E2E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648A"/>
                </a:solidFill>
              </a:rPr>
              <a:t>Demo order — estimated 4 minutes: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512064"/>
          </a:xfrm>
          <a:prstGeom prst="rect">
            <a:avLst/>
          </a:prstGeom>
          <a:solidFill>
            <a:srgbClr val="10101E"/>
          </a:solidFill>
          <a:ln w="12700">
            <a:solidFill>
              <a:srgbClr val="4A8DF5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1417320" cy="512064"/>
          </a:xfrm>
          <a:prstGeom prst="rect">
            <a:avLst/>
          </a:prstGeom>
          <a:solidFill>
            <a:srgbClr val="4A8DF5">
              <a:alpha val="12000"/>
            </a:srgbClr>
          </a:solidFill>
          <a:ln w="12700">
            <a:solidFill>
              <a:srgbClr val="4A8D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8DF5"/>
                </a:solidFill>
              </a:rPr>
              <a:t>Home Page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93392" y="13716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Dark hero section, lifter mascot, 3 habit feature cards, responsive navbar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73568" y="137160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8DF5"/>
                </a:solidFill>
              </a:rPr>
              <a:t>~30s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8229600" cy="512064"/>
          </a:xfrm>
          <a:prstGeom prst="rect">
            <a:avLst/>
          </a:prstGeom>
          <a:solidFill>
            <a:srgbClr val="10101E"/>
          </a:solidFill>
          <a:ln w="12700">
            <a:solidFill>
              <a:srgbClr val="E0423A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74520"/>
            <a:ext cx="1417320" cy="512064"/>
          </a:xfrm>
          <a:prstGeom prst="rect">
            <a:avLst/>
          </a:prstGeom>
          <a:solidFill>
            <a:srgbClr val="E0423A">
              <a:alpha val="12000"/>
            </a:srgbClr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7452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423A"/>
                </a:solidFill>
              </a:rPr>
              <a:t>Sign Up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93392" y="196596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Create account → flash success message → session created → redirected to home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73568" y="196596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0423A"/>
                </a:solidFill>
              </a:rPr>
              <a:t>~30s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8229600" cy="512064"/>
          </a:xfrm>
          <a:prstGeom prst="rect">
            <a:avLst/>
          </a:prstGeom>
          <a:solidFill>
            <a:srgbClr val="10101E"/>
          </a:solidFill>
          <a:ln w="12700">
            <a:solidFill>
              <a:srgbClr val="9B6DFF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468880"/>
            <a:ext cx="1417320" cy="512064"/>
          </a:xfrm>
          <a:prstGeom prst="rect">
            <a:avLst/>
          </a:prstGeom>
          <a:solidFill>
            <a:srgbClr val="9B6DFF">
              <a:alpha val="12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46888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6DFF"/>
                </a:solidFill>
              </a:rPr>
              <a:t>Log Habits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93392" y="256032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Multi-select exercise checkboxes · sleep quality pills · water stepper · save entry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73568" y="256032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6DFF"/>
                </a:solidFill>
              </a:rPr>
              <a:t>~60s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512064"/>
          </a:xfrm>
          <a:prstGeom prst="rect">
            <a:avLst/>
          </a:prstGeom>
          <a:solidFill>
            <a:srgbClr val="10101E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63240"/>
            <a:ext cx="1417320" cy="512064"/>
          </a:xfrm>
          <a:prstGeom prst="rect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06324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History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93392" y="315468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Table: sleep badge (great/ok/bad) · exercise ✔ with type · color-coded water · action buttons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73568" y="315468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B8A6"/>
                </a:solidFill>
              </a:rPr>
              <a:t>~30s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8229600" cy="512064"/>
          </a:xfrm>
          <a:prstGeom prst="rect">
            <a:avLst/>
          </a:prstGeom>
          <a:solidFill>
            <a:srgbClr val="10101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657600"/>
            <a:ext cx="1417320" cy="512064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65760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Stats Page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93392" y="37490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6 KPI cards · exercise+food streaks with 🔥 · Chart.js water bar + sleep line + habit chart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73568" y="374904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~60s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251960"/>
            <a:ext cx="8229600" cy="512064"/>
          </a:xfrm>
          <a:prstGeom prst="rect">
            <a:avLst/>
          </a:prstGeom>
          <a:solidFill>
            <a:srgbClr val="10101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25400" dir="87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251960"/>
            <a:ext cx="1417320" cy="512064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25196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Detail View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993392" y="43434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C4D4"/>
                </a:solidFill>
              </a:rPr>
              <a:t>Per-entry card breakdown · day score bar (out of 5 goals) · edit and delete flow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73568" y="434340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~30s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956048"/>
            <a:ext cx="8229600" cy="256032"/>
          </a:xfrm>
          <a:prstGeom prst="rect">
            <a:avLst/>
          </a:prstGeom>
          <a:solidFill>
            <a:srgbClr val="18182A"/>
          </a:solidFill>
          <a:ln w="6350">
            <a:solidFill>
              <a:srgbClr val="2E2E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9560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648A"/>
                </a:solidFill>
              </a:rPr>
              <a:t>💡  Backup plan: screenshots saved locally in case of demo failure · database seeded with 9 real entries · server tested before class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457200"/>
            <a:ext cx="5486400" cy="5486400"/>
          </a:xfrm>
          <a:prstGeom prst="ellipse">
            <a:avLst/>
          </a:prstGeom>
          <a:solidFill>
            <a:srgbClr val="E0423A">
              <a:alpha val="7000"/>
            </a:srgbClr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5486400" cy="5486400"/>
          </a:xfrm>
          <a:prstGeom prst="ellipse">
            <a:avLst/>
          </a:prstGeom>
          <a:solidFill>
            <a:srgbClr val="9B6DFF">
              <a:alpha val="7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1371600"/>
            <a:ext cx="4572000" cy="4572000"/>
          </a:xfrm>
          <a:prstGeom prst="ellipse">
            <a:avLst/>
          </a:prstGeom>
          <a:solidFill>
            <a:srgbClr val="4A8DF5">
              <a:alpha val="4000"/>
            </a:srgbClr>
          </a:solidFill>
          <a:ln w="12700">
            <a:solidFill>
              <a:srgbClr val="4A8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0423A"/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500" kern="0" dirty="0">
                <a:solidFill>
                  <a:srgbClr val="F8F8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64648A"/>
                </a:solidFill>
              </a:rPr>
              <a:t>KEY TAKEAWAYS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0" y="1600200"/>
            <a:ext cx="2743200" cy="0"/>
          </a:xfrm>
          <a:prstGeom prst="line">
            <a:avLst/>
          </a:prstGeom>
          <a:noFill/>
          <a:ln w="6350">
            <a:solidFill>
              <a:srgbClr val="2E2E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1828800"/>
            <a:ext cx="164592" cy="164592"/>
          </a:xfrm>
          <a:prstGeom prst="rect">
            <a:avLst/>
          </a:prstGeom>
          <a:solidFill>
            <a:srgbClr val="E0423A"/>
          </a:solidFill>
          <a:ln w="12700">
            <a:solidFill>
              <a:srgbClr val="E04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179222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</a:rPr>
              <a:t>Built a production-quality Flask app: auth, ORM, chart analytics, streak algorithms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188720" y="2395728"/>
            <a:ext cx="164592" cy="164592"/>
          </a:xfrm>
          <a:prstGeom prst="rect">
            <a:avLst/>
          </a:prstGeom>
          <a:solidFill>
            <a:srgbClr val="4A8DF5"/>
          </a:solidFill>
          <a:ln w="12700">
            <a:solidFill>
              <a:srgbClr val="4A8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81328" y="23591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</a:rPr>
              <a:t>Delivered beyond MVP scope — multi-select exercise, Chart.js, dark UI, streaks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188720" y="2962656"/>
            <a:ext cx="164592" cy="164592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29260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</a:rPr>
              <a:t>Solved real engineering bugs: async JS loading, CSS blocks, date types, routing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188720" y="3529584"/>
            <a:ext cx="16459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1328" y="349300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8F2"/>
                </a:solidFill>
              </a:rPr>
              <a:t>Practiced real team Git workflow — branches, PRs, merge conflicts, code reviews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188720" y="4160520"/>
            <a:ext cx="6766560" cy="0"/>
          </a:xfrm>
          <a:prstGeom prst="line">
            <a:avLst/>
          </a:prstGeom>
          <a:noFill/>
          <a:ln w="6350">
            <a:solidFill>
              <a:srgbClr val="2E2E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224528"/>
            <a:ext cx="6766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64648A"/>
                </a:solidFill>
              </a:rPr>
              <a:t>FUTURE IMPROVEMENTS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14400" y="44439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648A"/>
                </a:solidFill>
              </a:rPr>
              <a:t>Export CSV  ·  Password hashing (bcrypt)  ·  PostgreSQL  ·  Cloud deployment  ·  Mobile-first redesign  ·  AI habit recommendations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" y="4663440"/>
            <a:ext cx="1417320" cy="246888"/>
          </a:xfrm>
          <a:prstGeom prst="rect">
            <a:avLst/>
          </a:prstGeom>
          <a:solidFill>
            <a:srgbClr val="E0423A">
              <a:alpha val="18000"/>
            </a:srgbClr>
          </a:solidFill>
          <a:ln w="9525">
            <a:solidFill>
              <a:srgbClr val="E042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66344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423A"/>
                </a:solidFill>
              </a:rPr>
              <a:t>Quantis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13432" y="4663440"/>
            <a:ext cx="1417320" cy="246888"/>
          </a:xfrm>
          <a:prstGeom prst="rect">
            <a:avLst/>
          </a:prstGeom>
          <a:solidFill>
            <a:srgbClr val="4A8DF5">
              <a:alpha val="18000"/>
            </a:srgbClr>
          </a:solidFill>
          <a:ln w="9525">
            <a:solidFill>
              <a:srgbClr val="4A8D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466344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8DF5"/>
                </a:solidFill>
              </a:rPr>
              <a:t>Elida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9624" y="4663440"/>
            <a:ext cx="1417320" cy="246888"/>
          </a:xfrm>
          <a:prstGeom prst="rect">
            <a:avLst/>
          </a:prstGeom>
          <a:solidFill>
            <a:srgbClr val="9B6DFF">
              <a:alpha val="18000"/>
            </a:srgbClr>
          </a:solidFill>
          <a:ln w="9525">
            <a:solidFill>
              <a:srgbClr val="9B6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9624" y="466344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DFF"/>
                </a:solidFill>
              </a:rPr>
              <a:t>Thaina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85816" y="4663440"/>
            <a:ext cx="1417320" cy="246888"/>
          </a:xfrm>
          <a:prstGeom prst="rect">
            <a:avLst/>
          </a:prstGeom>
          <a:solidFill>
            <a:srgbClr val="F59E0B">
              <a:alpha val="18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85816" y="466344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Anthony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22008" y="4663440"/>
            <a:ext cx="1417320" cy="246888"/>
          </a:xfrm>
          <a:prstGeom prst="rect">
            <a:avLst/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22008" y="466344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Sesilina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0" y="4645152"/>
            <a:ext cx="3657600" cy="292608"/>
          </a:xfrm>
          <a:prstGeom prst="rect">
            <a:avLst/>
          </a:prstGeom>
          <a:solidFill>
            <a:srgbClr val="10101E"/>
          </a:solidFill>
          <a:ln w="12700">
            <a:solidFill>
              <a:srgbClr val="25254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Healthy Habits Tracker</dc:title>
  <dc:subject>PptxGenJS Presentation</dc:subject>
  <dc:creator>PptxGenJS</dc:creator>
  <cp:lastModifiedBy>PptxGenJS</cp:lastModifiedBy>
  <cp:revision>1</cp:revision>
  <dcterms:created xsi:type="dcterms:W3CDTF">2026-03-17T00:11:24Z</dcterms:created>
  <dcterms:modified xsi:type="dcterms:W3CDTF">2026-03-17T00:11:24Z</dcterms:modified>
</cp:coreProperties>
</file>