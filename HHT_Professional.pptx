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indent="0" algn="r">
              <a:buNone/>
            </a:pPr>
            <a:fld id="{B0FEECA5-59BE-4B01-92A8-DFE21B9A7ABF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19D66DC-39C2-49F9-80E5-3D1CEACB5A0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80AD3C6-5FB6-4C1B-85A4-4E70DCEEA47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E1FA31D-53C8-4B2E-A51E-5E912F57D22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6103E9D-3347-4C41-87C6-A997B9D3E8E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8F5AC3-7E74-463D-9878-2CB8D62B56D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70C7F4A-3ADC-49C6-97D2-EB1B11C9528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3268203-1382-4B0C-BBA0-3DCB65B13A6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7C8AA9C-F781-4BE1-8B07-2678C9A3F00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0A50BAC-7AC6-4F3C-9473-2D95AE12C34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5029200" y="-1097280"/>
            <a:ext cx="6400440" cy="6400440"/>
          </a:xfrm>
          <a:prstGeom prst="ellipse">
            <a:avLst/>
          </a:prstGeom>
          <a:solidFill>
            <a:srgbClr val="9b6dff">
              <a:alpha val="8000"/>
            </a:srgbClr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-1371600" y="2286000"/>
            <a:ext cx="4571640" cy="4571640"/>
          </a:xfrm>
          <a:prstGeom prst="ellipse">
            <a:avLst/>
          </a:prstGeom>
          <a:solidFill>
            <a:srgbClr val="e0423a">
              <a:alpha val="7000"/>
            </a:srgbClr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2"/>
          <p:cNvSpPr/>
          <p:nvPr/>
        </p:nvSpPr>
        <p:spPr>
          <a:xfrm>
            <a:off x="2743200" y="1828800"/>
            <a:ext cx="4571640" cy="4571640"/>
          </a:xfrm>
          <a:prstGeom prst="ellipse">
            <a:avLst/>
          </a:prstGeom>
          <a:solidFill>
            <a:srgbClr val="4a8df5">
              <a:alpha val="5000"/>
            </a:srgbClr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hape 3"/>
          <p:cNvSpPr/>
          <p:nvPr/>
        </p:nvSpPr>
        <p:spPr>
          <a:xfrm>
            <a:off x="0" y="0"/>
            <a:ext cx="9143640" cy="36360"/>
          </a:xfrm>
          <a:prstGeom prst="rect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Text 4"/>
          <p:cNvSpPr/>
          <p:nvPr/>
        </p:nvSpPr>
        <p:spPr>
          <a:xfrm>
            <a:off x="640080" y="640080"/>
            <a:ext cx="78634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5600" spc="299" strike="noStrike">
                <a:solidFill>
                  <a:srgbClr val="f8f8f2"/>
                </a:solidFill>
                <a:latin typeface="Arial Black"/>
                <a:ea typeface="Arial Black"/>
              </a:rPr>
              <a:t>HEALTHY HABITS</a:t>
            </a:r>
            <a:endParaRPr b="0" lang="en-US" sz="5600" spc="-1" strike="noStrike"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640080" y="1508760"/>
            <a:ext cx="78634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5600" spc="299" strike="noStrike">
                <a:solidFill>
                  <a:srgbClr val="e0423a"/>
                </a:solidFill>
                <a:latin typeface="Arial Black"/>
                <a:ea typeface="Arial Black"/>
              </a:rPr>
              <a:t>TRACKER</a:t>
            </a:r>
            <a:endParaRPr b="0" lang="en-US" sz="5600" spc="-1" strike="noStrike"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1371600" y="254196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64648a"/>
                </a:solidFill>
                <a:latin typeface="Calibri"/>
              </a:rPr>
              <a:t>A full-stack Flask web application for tracking daily health habits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3200400" y="2926080"/>
            <a:ext cx="274320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Text 8"/>
          <p:cNvSpPr/>
          <p:nvPr/>
        </p:nvSpPr>
        <p:spPr>
          <a:xfrm>
            <a:off x="914400" y="3017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97" strike="noStrike">
                <a:solidFill>
                  <a:srgbClr val="64648a"/>
                </a:solidFill>
                <a:latin typeface="Calibri"/>
              </a:rPr>
              <a:t>IT111  ·  Winter 2026  ·  Seattle Colleges  ·  Team 1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53" name="Shape 9"/>
          <p:cNvSpPr/>
          <p:nvPr/>
        </p:nvSpPr>
        <p:spPr>
          <a:xfrm>
            <a:off x="777240" y="3456360"/>
            <a:ext cx="1416960" cy="246600"/>
          </a:xfrm>
          <a:prstGeom prst="rect">
            <a:avLst/>
          </a:prstGeom>
          <a:solidFill>
            <a:srgbClr val="e0423a">
              <a:alpha val="18000"/>
            </a:srgbClr>
          </a:solidFill>
          <a:ln w="9525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ext 10"/>
          <p:cNvSpPr/>
          <p:nvPr/>
        </p:nvSpPr>
        <p:spPr>
          <a:xfrm>
            <a:off x="777240" y="345636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0423a"/>
                </a:solidFill>
                <a:latin typeface="Calibri"/>
              </a:rPr>
              <a:t>Quantis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55" name="Shape 11"/>
          <p:cNvSpPr/>
          <p:nvPr/>
        </p:nvSpPr>
        <p:spPr>
          <a:xfrm>
            <a:off x="2313360" y="3456360"/>
            <a:ext cx="1416960" cy="246600"/>
          </a:xfrm>
          <a:prstGeom prst="rect">
            <a:avLst/>
          </a:prstGeom>
          <a:solidFill>
            <a:srgbClr val="4a8df5">
              <a:alpha val="18000"/>
            </a:srgbClr>
          </a:solidFill>
          <a:ln w="9525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Text 12"/>
          <p:cNvSpPr/>
          <p:nvPr/>
        </p:nvSpPr>
        <p:spPr>
          <a:xfrm>
            <a:off x="2313360" y="345636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4a8df5"/>
                </a:solidFill>
                <a:latin typeface="Calibri"/>
              </a:rPr>
              <a:t>Elida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57" name="Shape 13"/>
          <p:cNvSpPr/>
          <p:nvPr/>
        </p:nvSpPr>
        <p:spPr>
          <a:xfrm>
            <a:off x="3849480" y="3456360"/>
            <a:ext cx="1416960" cy="246600"/>
          </a:xfrm>
          <a:prstGeom prst="rect">
            <a:avLst/>
          </a:prstGeom>
          <a:solidFill>
            <a:srgbClr val="9b6dff">
              <a:alpha val="18000"/>
            </a:srgbClr>
          </a:solidFill>
          <a:ln w="9525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4"/>
          <p:cNvSpPr/>
          <p:nvPr/>
        </p:nvSpPr>
        <p:spPr>
          <a:xfrm>
            <a:off x="3849480" y="345636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b6dff"/>
                </a:solidFill>
                <a:latin typeface="Calibri"/>
              </a:rPr>
              <a:t>Thaina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59" name="Shape 15"/>
          <p:cNvSpPr/>
          <p:nvPr/>
        </p:nvSpPr>
        <p:spPr>
          <a:xfrm>
            <a:off x="5385960" y="3456360"/>
            <a:ext cx="1416960" cy="246600"/>
          </a:xfrm>
          <a:prstGeom prst="rect">
            <a:avLst/>
          </a:prstGeom>
          <a:solidFill>
            <a:srgbClr val="f59e0b">
              <a:alpha val="18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Text 16"/>
          <p:cNvSpPr/>
          <p:nvPr/>
        </p:nvSpPr>
        <p:spPr>
          <a:xfrm>
            <a:off x="5385960" y="345636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e0b"/>
                </a:solidFill>
                <a:latin typeface="Calibri"/>
              </a:rPr>
              <a:t>Anthony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61" name="Shape 17"/>
          <p:cNvSpPr/>
          <p:nvPr/>
        </p:nvSpPr>
        <p:spPr>
          <a:xfrm>
            <a:off x="6922080" y="3456360"/>
            <a:ext cx="1416960" cy="246600"/>
          </a:xfrm>
          <a:prstGeom prst="rect">
            <a:avLst/>
          </a:prstGeom>
          <a:solidFill>
            <a:srgbClr val="14b8a6">
              <a:alpha val="18000"/>
            </a:srgbClr>
          </a:solidFill>
          <a:ln w="9525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18"/>
          <p:cNvSpPr/>
          <p:nvPr/>
        </p:nvSpPr>
        <p:spPr>
          <a:xfrm>
            <a:off x="6922080" y="345636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4b8a6"/>
                </a:solidFill>
                <a:latin typeface="Calibri"/>
              </a:rPr>
              <a:t>Sesilina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63" name="Text 19"/>
          <p:cNvSpPr/>
          <p:nvPr/>
        </p:nvSpPr>
        <p:spPr>
          <a:xfrm>
            <a:off x="6858000" y="3977640"/>
            <a:ext cx="2102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Due: Mar 17, 2026</a:t>
            </a:r>
            <a:endParaRPr b="0" lang="en-US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Text 1"/>
          <p:cNvSpPr/>
          <p:nvPr/>
        </p:nvSpPr>
        <p:spPr>
          <a:xfrm>
            <a:off x="502920" y="20124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199" strike="noStrike">
                <a:solidFill>
                  <a:srgbClr val="f8f8f2"/>
                </a:solidFill>
                <a:latin typeface="Arial Black"/>
                <a:ea typeface="Arial Black"/>
              </a:rPr>
              <a:t>PROJECT INTRODUCTION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66" name="Text 2"/>
          <p:cNvSpPr/>
          <p:nvPr/>
        </p:nvSpPr>
        <p:spPr>
          <a:xfrm>
            <a:off x="502920" y="5943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299" strike="noStrike">
                <a:solidFill>
                  <a:srgbClr val="e0423a"/>
                </a:solidFill>
                <a:latin typeface="Calibri"/>
              </a:rPr>
              <a:t>WHAT WE BUILT &amp; WHY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7" name="Shape 3"/>
          <p:cNvSpPr/>
          <p:nvPr/>
        </p:nvSpPr>
        <p:spPr>
          <a:xfrm>
            <a:off x="502920" y="896040"/>
            <a:ext cx="813816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Shape 4"/>
          <p:cNvSpPr/>
          <p:nvPr/>
        </p:nvSpPr>
        <p:spPr>
          <a:xfrm>
            <a:off x="502920" y="1005840"/>
            <a:ext cx="8137800" cy="685440"/>
          </a:xfrm>
          <a:prstGeom prst="rect">
            <a:avLst/>
          </a:prstGeom>
          <a:solidFill>
            <a:srgbClr val="10101e"/>
          </a:solidFill>
          <a:ln w="12700">
            <a:solidFill>
              <a:srgbClr val="e0423a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9" name="Text 5"/>
          <p:cNvSpPr/>
          <p:nvPr/>
        </p:nvSpPr>
        <p:spPr>
          <a:xfrm>
            <a:off x="685800" y="105156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900" spc="97" strike="noStrike">
                <a:solidFill>
                  <a:srgbClr val="e0423a"/>
                </a:solidFill>
                <a:latin typeface="Calibri"/>
              </a:rPr>
              <a:t>The Problem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0" name="Text 6"/>
          <p:cNvSpPr/>
          <p:nvPr/>
        </p:nvSpPr>
        <p:spPr>
          <a:xfrm>
            <a:off x="685800" y="129852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f8f8f2"/>
                </a:solidFill>
                <a:latin typeface="Calibri"/>
              </a:rPr>
              <a:t>People struggle to consistently track daily health habits — water intake, exercise, sleep, and nutrition. Most existing apps are too complex for everyday users.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71" name="Shape 7"/>
          <p:cNvSpPr/>
          <p:nvPr/>
        </p:nvSpPr>
        <p:spPr>
          <a:xfrm>
            <a:off x="502920" y="1874520"/>
            <a:ext cx="2651400" cy="1874160"/>
          </a:xfrm>
          <a:prstGeom prst="rect">
            <a:avLst/>
          </a:prstGeom>
          <a:solidFill>
            <a:srgbClr val="10101e"/>
          </a:solidFill>
          <a:ln w="12700">
            <a:solidFill>
              <a:srgbClr val="e0423a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2" name="Shape 8"/>
          <p:cNvSpPr/>
          <p:nvPr/>
        </p:nvSpPr>
        <p:spPr>
          <a:xfrm>
            <a:off x="502920" y="1874520"/>
            <a:ext cx="50040" cy="1874160"/>
          </a:xfrm>
          <a:prstGeom prst="rect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" name="Text 9"/>
          <p:cNvSpPr/>
          <p:nvPr/>
        </p:nvSpPr>
        <p:spPr>
          <a:xfrm>
            <a:off x="667440" y="193860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750" spc="148" strike="noStrike">
                <a:solidFill>
                  <a:srgbClr val="e0423a"/>
                </a:solidFill>
                <a:latin typeface="Calibri"/>
              </a:rPr>
              <a:t>PROJECT NAME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74" name="Text 10"/>
          <p:cNvSpPr/>
          <p:nvPr/>
        </p:nvSpPr>
        <p:spPr>
          <a:xfrm>
            <a:off x="667440" y="221292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8f2"/>
                </a:solidFill>
                <a:latin typeface="Calibri"/>
              </a:rPr>
              <a:t>Healthy Habits Tracker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667440" y="2651760"/>
            <a:ext cx="2377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Flask web app — Python backend, SQLite database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6" name="Shape 12"/>
          <p:cNvSpPr/>
          <p:nvPr/>
        </p:nvSpPr>
        <p:spPr>
          <a:xfrm>
            <a:off x="3355920" y="1874520"/>
            <a:ext cx="2651400" cy="1874160"/>
          </a:xfrm>
          <a:prstGeom prst="rect">
            <a:avLst/>
          </a:prstGeom>
          <a:solidFill>
            <a:srgbClr val="10101e"/>
          </a:solidFill>
          <a:ln w="12700">
            <a:solidFill>
              <a:srgbClr val="4a8df5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7" name="Shape 13"/>
          <p:cNvSpPr/>
          <p:nvPr/>
        </p:nvSpPr>
        <p:spPr>
          <a:xfrm>
            <a:off x="3355920" y="1874520"/>
            <a:ext cx="50040" cy="1874160"/>
          </a:xfrm>
          <a:prstGeom prst="rect">
            <a:avLst/>
          </a:prstGeom>
          <a:solidFill>
            <a:srgbClr val="4a8df5"/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Text 14"/>
          <p:cNvSpPr/>
          <p:nvPr/>
        </p:nvSpPr>
        <p:spPr>
          <a:xfrm>
            <a:off x="3520440" y="193860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750" spc="148" strike="noStrike">
                <a:solidFill>
                  <a:srgbClr val="4a8df5"/>
                </a:solidFill>
                <a:latin typeface="Calibri"/>
              </a:rPr>
              <a:t>TARGET USERS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3520440" y="221292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8f2"/>
                </a:solidFill>
                <a:latin typeface="Calibri"/>
              </a:rPr>
              <a:t>Students &amp; Busy Professionals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0" name="Text 16"/>
          <p:cNvSpPr/>
          <p:nvPr/>
        </p:nvSpPr>
        <p:spPr>
          <a:xfrm>
            <a:off x="3520440" y="2651760"/>
            <a:ext cx="2377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Anyone building daily routines without complex tools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1" name="Shape 17"/>
          <p:cNvSpPr/>
          <p:nvPr/>
        </p:nvSpPr>
        <p:spPr>
          <a:xfrm>
            <a:off x="6208920" y="1874520"/>
            <a:ext cx="2651400" cy="1874160"/>
          </a:xfrm>
          <a:prstGeom prst="rect">
            <a:avLst/>
          </a:prstGeom>
          <a:solidFill>
            <a:srgbClr val="10101e"/>
          </a:solidFill>
          <a:ln w="12700">
            <a:solidFill>
              <a:srgbClr val="9b6dff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" name="Shape 18"/>
          <p:cNvSpPr/>
          <p:nvPr/>
        </p:nvSpPr>
        <p:spPr>
          <a:xfrm>
            <a:off x="6208920" y="1874520"/>
            <a:ext cx="50040" cy="1874160"/>
          </a:xfrm>
          <a:prstGeom prst="rect">
            <a:avLst/>
          </a:prstGeom>
          <a:solidFill>
            <a:srgbClr val="9b6dff"/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Text 19"/>
          <p:cNvSpPr/>
          <p:nvPr/>
        </p:nvSpPr>
        <p:spPr>
          <a:xfrm>
            <a:off x="6373440" y="193860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750" spc="148" strike="noStrike">
                <a:solidFill>
                  <a:srgbClr val="9b6dff"/>
                </a:solidFill>
                <a:latin typeface="Calibri"/>
              </a:rPr>
              <a:t>CORE PURPOSE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84" name="Text 20"/>
          <p:cNvSpPr/>
          <p:nvPr/>
        </p:nvSpPr>
        <p:spPr>
          <a:xfrm>
            <a:off x="6373440" y="221292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8f2"/>
                </a:solidFill>
                <a:latin typeface="Calibri"/>
              </a:rPr>
              <a:t>Track. Analyze. Improve.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5" name="Text 21"/>
          <p:cNvSpPr/>
          <p:nvPr/>
        </p:nvSpPr>
        <p:spPr>
          <a:xfrm>
            <a:off x="6373440" y="2651760"/>
            <a:ext cx="2377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Log daily habits and visualize progress over time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6" name="Text 22"/>
          <p:cNvSpPr/>
          <p:nvPr/>
        </p:nvSpPr>
        <p:spPr>
          <a:xfrm>
            <a:off x="502920" y="391356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750" spc="199" strike="noStrike">
                <a:solidFill>
                  <a:srgbClr val="64648a"/>
                </a:solidFill>
                <a:latin typeface="Calibri"/>
              </a:rPr>
              <a:t>MOTIVATION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87" name="Shape 23"/>
          <p:cNvSpPr/>
          <p:nvPr/>
        </p:nvSpPr>
        <p:spPr>
          <a:xfrm>
            <a:off x="530280" y="4187880"/>
            <a:ext cx="127800" cy="127800"/>
          </a:xfrm>
          <a:prstGeom prst="ellipse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Text 24"/>
          <p:cNvSpPr/>
          <p:nvPr/>
        </p:nvSpPr>
        <p:spPr>
          <a:xfrm>
            <a:off x="749880" y="414216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4c4d4"/>
                </a:solidFill>
                <a:latin typeface="Calibri"/>
              </a:rPr>
              <a:t>No single lightweight app to track gym + sleep + nutrition + water in one place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89" name="Shape 25"/>
          <p:cNvSpPr/>
          <p:nvPr/>
        </p:nvSpPr>
        <p:spPr>
          <a:xfrm>
            <a:off x="530280" y="4462200"/>
            <a:ext cx="127800" cy="127800"/>
          </a:xfrm>
          <a:prstGeom prst="ellipse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Text 26"/>
          <p:cNvSpPr/>
          <p:nvPr/>
        </p:nvSpPr>
        <p:spPr>
          <a:xfrm>
            <a:off x="749880" y="441648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4c4d4"/>
                </a:solidFill>
                <a:latin typeface="Calibri"/>
              </a:rPr>
              <a:t>School project that mirrors a real-world full-stack product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91" name="Shape 27"/>
          <p:cNvSpPr/>
          <p:nvPr/>
        </p:nvSpPr>
        <p:spPr>
          <a:xfrm>
            <a:off x="530280" y="4736520"/>
            <a:ext cx="127800" cy="127800"/>
          </a:xfrm>
          <a:prstGeom prst="ellipse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28"/>
          <p:cNvSpPr/>
          <p:nvPr/>
        </p:nvSpPr>
        <p:spPr>
          <a:xfrm>
            <a:off x="749880" y="469080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c4c4d4"/>
                </a:solidFill>
                <a:latin typeface="Calibri"/>
              </a:rPr>
              <a:t>Opportunity to learn Flask, SQLAlchemy, Chart.js, and team Git workflow</a:t>
            </a:r>
            <a:endParaRPr b="0" lang="en-US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4a8df5"/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Text 1"/>
          <p:cNvSpPr/>
          <p:nvPr/>
        </p:nvSpPr>
        <p:spPr>
          <a:xfrm>
            <a:off x="502920" y="20124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199" strike="noStrike">
                <a:solidFill>
                  <a:srgbClr val="f8f8f2"/>
                </a:solidFill>
                <a:latin typeface="Arial Black"/>
                <a:ea typeface="Arial Black"/>
              </a:rPr>
              <a:t>APPLICATION FEATURES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502920" y="5943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299" strike="noStrike">
                <a:solidFill>
                  <a:srgbClr val="4a8df5"/>
                </a:solidFill>
                <a:latin typeface="Calibri"/>
              </a:rPr>
              <a:t>WHAT MAKES THIS APP UNIQUE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96" name="Shape 3"/>
          <p:cNvSpPr/>
          <p:nvPr/>
        </p:nvSpPr>
        <p:spPr>
          <a:xfrm>
            <a:off x="502920" y="896040"/>
            <a:ext cx="813816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Shape 4"/>
          <p:cNvSpPr/>
          <p:nvPr/>
        </p:nvSpPr>
        <p:spPr>
          <a:xfrm>
            <a:off x="457200" y="987480"/>
            <a:ext cx="4160160" cy="1142640"/>
          </a:xfrm>
          <a:prstGeom prst="rect">
            <a:avLst/>
          </a:prstGeom>
          <a:solidFill>
            <a:srgbClr val="10101e"/>
          </a:solidFill>
          <a:ln w="12700">
            <a:solidFill>
              <a:srgbClr val="4a8df5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8" name="Shape 5"/>
          <p:cNvSpPr/>
          <p:nvPr/>
        </p:nvSpPr>
        <p:spPr>
          <a:xfrm>
            <a:off x="457200" y="987480"/>
            <a:ext cx="50040" cy="1142640"/>
          </a:xfrm>
          <a:prstGeom prst="rect">
            <a:avLst/>
          </a:prstGeom>
          <a:solidFill>
            <a:srgbClr val="4a8df5"/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6"/>
          <p:cNvSpPr/>
          <p:nvPr/>
        </p:nvSpPr>
        <p:spPr>
          <a:xfrm>
            <a:off x="621720" y="987480"/>
            <a:ext cx="5482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🔐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Text 7"/>
          <p:cNvSpPr/>
          <p:nvPr/>
        </p:nvSpPr>
        <p:spPr>
          <a:xfrm>
            <a:off x="1234440" y="1060560"/>
            <a:ext cx="3245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8df5"/>
                </a:solidFill>
                <a:latin typeface="Calibri"/>
              </a:rPr>
              <a:t>User Authentication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1" name="Text 8"/>
          <p:cNvSpPr/>
          <p:nvPr/>
        </p:nvSpPr>
        <p:spPr>
          <a:xfrm>
            <a:off x="1234440" y="137160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Sign up / Login with Flask sessions. Protected routes via login_required decorator.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2" name="Shape 9"/>
          <p:cNvSpPr/>
          <p:nvPr/>
        </p:nvSpPr>
        <p:spPr>
          <a:xfrm>
            <a:off x="4818960" y="987480"/>
            <a:ext cx="4160160" cy="1142640"/>
          </a:xfrm>
          <a:prstGeom prst="rect">
            <a:avLst/>
          </a:prstGeom>
          <a:solidFill>
            <a:srgbClr val="10101e"/>
          </a:solidFill>
          <a:ln w="12700">
            <a:solidFill>
              <a:srgbClr val="e0423a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" name="Shape 10"/>
          <p:cNvSpPr/>
          <p:nvPr/>
        </p:nvSpPr>
        <p:spPr>
          <a:xfrm>
            <a:off x="4818960" y="987480"/>
            <a:ext cx="50040" cy="1142640"/>
          </a:xfrm>
          <a:prstGeom prst="rect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Text 11"/>
          <p:cNvSpPr/>
          <p:nvPr/>
        </p:nvSpPr>
        <p:spPr>
          <a:xfrm>
            <a:off x="4983480" y="987480"/>
            <a:ext cx="5482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📋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5" name="Text 12"/>
          <p:cNvSpPr/>
          <p:nvPr/>
        </p:nvSpPr>
        <p:spPr>
          <a:xfrm>
            <a:off x="5596200" y="1060560"/>
            <a:ext cx="3245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0423a"/>
                </a:solidFill>
                <a:latin typeface="Calibri"/>
              </a:rPr>
              <a:t>Multi-Field Habit Logging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6" name="Text 13"/>
          <p:cNvSpPr/>
          <p:nvPr/>
        </p:nvSpPr>
        <p:spPr>
          <a:xfrm>
            <a:off x="5596200" y="137160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Sleep (hours + quality), exercise type (multi-select), water cups, nutrition, notes.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7" name="Shape 14"/>
          <p:cNvSpPr/>
          <p:nvPr/>
        </p:nvSpPr>
        <p:spPr>
          <a:xfrm>
            <a:off x="457200" y="2313360"/>
            <a:ext cx="4160160" cy="1142640"/>
          </a:xfrm>
          <a:prstGeom prst="rect">
            <a:avLst/>
          </a:prstGeom>
          <a:solidFill>
            <a:srgbClr val="10101e"/>
          </a:solidFill>
          <a:ln w="12700">
            <a:solidFill>
              <a:srgbClr val="9b6dff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8" name="Shape 15"/>
          <p:cNvSpPr/>
          <p:nvPr/>
        </p:nvSpPr>
        <p:spPr>
          <a:xfrm>
            <a:off x="457200" y="2313360"/>
            <a:ext cx="50040" cy="1142640"/>
          </a:xfrm>
          <a:prstGeom prst="rect">
            <a:avLst/>
          </a:prstGeom>
          <a:solidFill>
            <a:srgbClr val="9b6dff"/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Text 16"/>
          <p:cNvSpPr/>
          <p:nvPr/>
        </p:nvSpPr>
        <p:spPr>
          <a:xfrm>
            <a:off x="621720" y="2313360"/>
            <a:ext cx="5482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📊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Text 17"/>
          <p:cNvSpPr/>
          <p:nvPr/>
        </p:nvSpPr>
        <p:spPr>
          <a:xfrm>
            <a:off x="1234440" y="2386440"/>
            <a:ext cx="3245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9b6dff"/>
                </a:solidFill>
                <a:latin typeface="Calibri"/>
              </a:rPr>
              <a:t>Stats Dashboard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1" name="Text 18"/>
          <p:cNvSpPr/>
          <p:nvPr/>
        </p:nvSpPr>
        <p:spPr>
          <a:xfrm>
            <a:off x="1234440" y="269748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6 KPI cards, Chart.js bar + line + grouped bar charts, doughnut consistency rings.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2" name="Shape 19"/>
          <p:cNvSpPr/>
          <p:nvPr/>
        </p:nvSpPr>
        <p:spPr>
          <a:xfrm>
            <a:off x="4818960" y="2313360"/>
            <a:ext cx="4160160" cy="1142640"/>
          </a:xfrm>
          <a:prstGeom prst="rect">
            <a:avLst/>
          </a:prstGeom>
          <a:solidFill>
            <a:srgbClr val="10101e"/>
          </a:solidFill>
          <a:ln w="12700">
            <a:solidFill>
              <a:srgbClr val="f59e0b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3" name="Shape 20"/>
          <p:cNvSpPr/>
          <p:nvPr/>
        </p:nvSpPr>
        <p:spPr>
          <a:xfrm>
            <a:off x="4818960" y="2313360"/>
            <a:ext cx="50040" cy="1142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ext 21"/>
          <p:cNvSpPr/>
          <p:nvPr/>
        </p:nvSpPr>
        <p:spPr>
          <a:xfrm>
            <a:off x="4983480" y="2313360"/>
            <a:ext cx="5482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🔥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5" name="Text 22"/>
          <p:cNvSpPr/>
          <p:nvPr/>
        </p:nvSpPr>
        <p:spPr>
          <a:xfrm>
            <a:off x="5596200" y="2386440"/>
            <a:ext cx="3245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9e0b"/>
                </a:solidFill>
                <a:latin typeface="Calibri"/>
              </a:rPr>
              <a:t>Streak Tracking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6" name="Text 23"/>
          <p:cNvSpPr/>
          <p:nvPr/>
        </p:nvSpPr>
        <p:spPr>
          <a:xfrm>
            <a:off x="5596200" y="269748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Current streak + all-time best for exercise and food. Any exercise type counts.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7" name="Shape 24"/>
          <p:cNvSpPr/>
          <p:nvPr/>
        </p:nvSpPr>
        <p:spPr>
          <a:xfrm>
            <a:off x="457200" y="3639240"/>
            <a:ext cx="4160160" cy="1142640"/>
          </a:xfrm>
          <a:prstGeom prst="rect">
            <a:avLst/>
          </a:prstGeom>
          <a:solidFill>
            <a:srgbClr val="10101e"/>
          </a:solidFill>
          <a:ln w="12700">
            <a:solidFill>
              <a:srgbClr val="14b8a6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8" name="Shape 25"/>
          <p:cNvSpPr/>
          <p:nvPr/>
        </p:nvSpPr>
        <p:spPr>
          <a:xfrm>
            <a:off x="457200" y="3639240"/>
            <a:ext cx="50040" cy="11426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Text 26"/>
          <p:cNvSpPr/>
          <p:nvPr/>
        </p:nvSpPr>
        <p:spPr>
          <a:xfrm>
            <a:off x="621720" y="3639240"/>
            <a:ext cx="5482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📅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Text 27"/>
          <p:cNvSpPr/>
          <p:nvPr/>
        </p:nvSpPr>
        <p:spPr>
          <a:xfrm>
            <a:off x="1234440" y="3712320"/>
            <a:ext cx="3245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4b8a6"/>
                </a:solidFill>
                <a:latin typeface="Calibri"/>
              </a:rPr>
              <a:t>History Table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1" name="Text 28"/>
          <p:cNvSpPr/>
          <p:nvPr/>
        </p:nvSpPr>
        <p:spPr>
          <a:xfrm>
            <a:off x="1234440" y="402336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Dark table with sleep quality badge, exercise ✔/✘, color-coded water, View/Edit/Delete.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2" name="Shape 29"/>
          <p:cNvSpPr/>
          <p:nvPr/>
        </p:nvSpPr>
        <p:spPr>
          <a:xfrm>
            <a:off x="4818960" y="3639240"/>
            <a:ext cx="4160160" cy="1142640"/>
          </a:xfrm>
          <a:prstGeom prst="rect">
            <a:avLst/>
          </a:prstGeom>
          <a:solidFill>
            <a:srgbClr val="10101e"/>
          </a:solidFill>
          <a:ln w="12700">
            <a:solidFill>
              <a:srgbClr val="22c55e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30"/>
          <p:cNvSpPr/>
          <p:nvPr/>
        </p:nvSpPr>
        <p:spPr>
          <a:xfrm>
            <a:off x="4818960" y="3639240"/>
            <a:ext cx="50040" cy="1142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1"/>
          <p:cNvSpPr/>
          <p:nvPr/>
        </p:nvSpPr>
        <p:spPr>
          <a:xfrm>
            <a:off x="4983480" y="3639240"/>
            <a:ext cx="5482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⚡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Text 32"/>
          <p:cNvSpPr/>
          <p:nvPr/>
        </p:nvSpPr>
        <p:spPr>
          <a:xfrm>
            <a:off x="5596200" y="3712320"/>
            <a:ext cx="3245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Flash Messages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6" name="Text 33"/>
          <p:cNvSpPr/>
          <p:nvPr/>
        </p:nvSpPr>
        <p:spPr>
          <a:xfrm>
            <a:off x="5596200" y="402336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Success, error, warning, info toasts injected via base.html — consistent across all pages.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7" name="Shape 34"/>
          <p:cNvSpPr/>
          <p:nvPr/>
        </p:nvSpPr>
        <p:spPr>
          <a:xfrm rot="21598200">
            <a:off x="709920" y="4868640"/>
            <a:ext cx="8229240" cy="272880"/>
          </a:xfrm>
          <a:prstGeom prst="rect">
            <a:avLst/>
          </a:prstGeom>
          <a:solidFill>
            <a:srgbClr val="4a8df5">
              <a:alpha val="10000"/>
            </a:srgbClr>
          </a:solidFill>
          <a:ln w="9525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35"/>
          <p:cNvSpPr/>
          <p:nvPr/>
        </p:nvSpPr>
        <p:spPr>
          <a:xfrm>
            <a:off x="548640" y="468180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85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850" spc="-1" strike="noStrike"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85800" y="4944600"/>
            <a:ext cx="7175880" cy="199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50" spc="-1" strike="noStrike">
                <a:solidFill>
                  <a:srgbClr val="4a8df5"/>
                </a:solidFill>
                <a:latin typeface="Calibri"/>
              </a:rPr>
              <a:t>★  </a:t>
            </a:r>
            <a:r>
              <a:rPr b="0" lang="en-US" sz="850" spc="-1" strike="noStrike">
                <a:solidFill>
                  <a:srgbClr val="4a8df5"/>
                </a:solidFill>
                <a:latin typeface="Calibri"/>
              </a:rPr>
              <a:t>Advanced: Multi-select exercise stored as comma-separated string · Chart.js loaded via dynamic script injection · Style blocks in &lt;head&gt; via {% block styles %}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9b6dff"/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Text 1"/>
          <p:cNvSpPr/>
          <p:nvPr/>
        </p:nvSpPr>
        <p:spPr>
          <a:xfrm>
            <a:off x="502920" y="20124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199" strike="noStrike">
                <a:solidFill>
                  <a:srgbClr val="f8f8f2"/>
                </a:solidFill>
                <a:latin typeface="Arial Black"/>
                <a:ea typeface="Arial Black"/>
              </a:rPr>
              <a:t>TECHNICAL ARCHITECTURE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502920" y="5943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299" strike="noStrike">
                <a:solidFill>
                  <a:srgbClr val="9b6dff"/>
                </a:solidFill>
                <a:latin typeface="Calibri"/>
              </a:rPr>
              <a:t>HOW THE SYSTEM IS STRUCTURED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3" name="Shape 3"/>
          <p:cNvSpPr/>
          <p:nvPr/>
        </p:nvSpPr>
        <p:spPr>
          <a:xfrm>
            <a:off x="502920" y="896040"/>
            <a:ext cx="813816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4"/>
          <p:cNvSpPr/>
          <p:nvPr/>
        </p:nvSpPr>
        <p:spPr>
          <a:xfrm>
            <a:off x="457200" y="987480"/>
            <a:ext cx="1965600" cy="1462680"/>
          </a:xfrm>
          <a:prstGeom prst="rect">
            <a:avLst/>
          </a:prstGeom>
          <a:solidFill>
            <a:srgbClr val="18182a"/>
          </a:solidFill>
          <a:ln w="12700">
            <a:solidFill>
              <a:srgbClr val="4a8df5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5"/>
          <p:cNvSpPr/>
          <p:nvPr/>
        </p:nvSpPr>
        <p:spPr>
          <a:xfrm>
            <a:off x="457200" y="987480"/>
            <a:ext cx="1965600" cy="347040"/>
          </a:xfrm>
          <a:prstGeom prst="rect">
            <a:avLst/>
          </a:prstGeom>
          <a:solidFill>
            <a:srgbClr val="4a8df5">
              <a:alpha val="18000"/>
            </a:srgbClr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6"/>
          <p:cNvSpPr/>
          <p:nvPr/>
        </p:nvSpPr>
        <p:spPr>
          <a:xfrm>
            <a:off x="457200" y="987480"/>
            <a:ext cx="196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a8df5"/>
                </a:solidFill>
                <a:latin typeface="Calibri"/>
              </a:rPr>
              <a:t>Browser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548640" y="1417320"/>
            <a:ext cx="17827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HTML · CSS</a:t>
            </a:r>
            <a:endParaRPr b="0" lang="en-US" sz="9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Jinja2 Templates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2423160" y="1554480"/>
            <a:ext cx="24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2e2e48"/>
                </a:solidFill>
                <a:latin typeface="Calibri"/>
              </a:rPr>
              <a:t>→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578680" y="987480"/>
            <a:ext cx="1965600" cy="1462680"/>
          </a:xfrm>
          <a:prstGeom prst="rect">
            <a:avLst/>
          </a:prstGeom>
          <a:solidFill>
            <a:srgbClr val="18182a"/>
          </a:solidFill>
          <a:ln w="12700">
            <a:solidFill>
              <a:srgbClr val="e0423a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0" name="Shape 10"/>
          <p:cNvSpPr/>
          <p:nvPr/>
        </p:nvSpPr>
        <p:spPr>
          <a:xfrm>
            <a:off x="2578680" y="987480"/>
            <a:ext cx="1965600" cy="347040"/>
          </a:xfrm>
          <a:prstGeom prst="rect">
            <a:avLst/>
          </a:prstGeom>
          <a:solidFill>
            <a:srgbClr val="e0423a">
              <a:alpha val="18000"/>
            </a:srgbClr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11"/>
          <p:cNvSpPr/>
          <p:nvPr/>
        </p:nvSpPr>
        <p:spPr>
          <a:xfrm>
            <a:off x="2578680" y="987480"/>
            <a:ext cx="196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0423a"/>
                </a:solidFill>
                <a:latin typeface="Calibri"/>
              </a:rPr>
              <a:t>Flask (app.py)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2670120" y="1417320"/>
            <a:ext cx="17827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Routes · Decorators</a:t>
            </a:r>
            <a:endParaRPr b="0" lang="en-US" sz="9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Session Auth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4544640" y="1554480"/>
            <a:ext cx="24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2e2e48"/>
                </a:solidFill>
                <a:latin typeface="Calibri"/>
              </a:rPr>
              <a:t>→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4" name="Shape 14"/>
          <p:cNvSpPr/>
          <p:nvPr/>
        </p:nvSpPr>
        <p:spPr>
          <a:xfrm>
            <a:off x="4700160" y="987480"/>
            <a:ext cx="1965600" cy="1462680"/>
          </a:xfrm>
          <a:prstGeom prst="rect">
            <a:avLst/>
          </a:prstGeom>
          <a:solidFill>
            <a:srgbClr val="18182a"/>
          </a:solidFill>
          <a:ln w="12700">
            <a:solidFill>
              <a:srgbClr val="9b6dff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5" name="Shape 15"/>
          <p:cNvSpPr/>
          <p:nvPr/>
        </p:nvSpPr>
        <p:spPr>
          <a:xfrm>
            <a:off x="4700160" y="987480"/>
            <a:ext cx="1965600" cy="347040"/>
          </a:xfrm>
          <a:prstGeom prst="rect">
            <a:avLst/>
          </a:prstGeom>
          <a:solidFill>
            <a:srgbClr val="9b6dff">
              <a:alpha val="18000"/>
            </a:srgbClr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Text 16"/>
          <p:cNvSpPr/>
          <p:nvPr/>
        </p:nvSpPr>
        <p:spPr>
          <a:xfrm>
            <a:off x="4700160" y="987480"/>
            <a:ext cx="196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9b6dff"/>
                </a:solidFill>
                <a:latin typeface="Calibri"/>
              </a:rPr>
              <a:t>SQLAlchemy ORM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47" name="Text 17"/>
          <p:cNvSpPr/>
          <p:nvPr/>
        </p:nvSpPr>
        <p:spPr>
          <a:xfrm>
            <a:off x="4791600" y="1417320"/>
            <a:ext cx="17827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HabitEntry Model</a:t>
            </a:r>
            <a:endParaRPr b="0" lang="en-US" sz="9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User Model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6666120" y="1554480"/>
            <a:ext cx="24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2e2e48"/>
                </a:solidFill>
                <a:latin typeface="Calibri"/>
              </a:rPr>
              <a:t>→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9" name="Shape 19"/>
          <p:cNvSpPr/>
          <p:nvPr/>
        </p:nvSpPr>
        <p:spPr>
          <a:xfrm>
            <a:off x="6821280" y="987480"/>
            <a:ext cx="1965600" cy="1462680"/>
          </a:xfrm>
          <a:prstGeom prst="rect">
            <a:avLst/>
          </a:prstGeom>
          <a:solidFill>
            <a:srgbClr val="18182a"/>
          </a:solidFill>
          <a:ln w="12700">
            <a:solidFill>
              <a:srgbClr val="f59e0b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0" name="Shape 20"/>
          <p:cNvSpPr/>
          <p:nvPr/>
        </p:nvSpPr>
        <p:spPr>
          <a:xfrm>
            <a:off x="6821280" y="987480"/>
            <a:ext cx="1965600" cy="347040"/>
          </a:xfrm>
          <a:prstGeom prst="rect">
            <a:avLst/>
          </a:prstGeom>
          <a:solidFill>
            <a:srgbClr val="f59e0b">
              <a:alpha val="18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Text 21"/>
          <p:cNvSpPr/>
          <p:nvPr/>
        </p:nvSpPr>
        <p:spPr>
          <a:xfrm>
            <a:off x="6821280" y="987480"/>
            <a:ext cx="196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59e0b"/>
                </a:solidFill>
                <a:latin typeface="Calibri"/>
              </a:rPr>
              <a:t>SQLite DB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2" name="Text 22"/>
          <p:cNvSpPr/>
          <p:nvPr/>
        </p:nvSpPr>
        <p:spPr>
          <a:xfrm>
            <a:off x="6912720" y="1417320"/>
            <a:ext cx="17827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instance/app.db</a:t>
            </a:r>
            <a:endParaRPr b="0" lang="en-US" sz="9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Auto-created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457200" y="2633400"/>
            <a:ext cx="3977280" cy="2304000"/>
          </a:xfrm>
          <a:prstGeom prst="rect">
            <a:avLst/>
          </a:prstGeom>
          <a:solidFill>
            <a:srgbClr val="18182a"/>
          </a:solidFill>
          <a:ln w="12700">
            <a:solidFill>
              <a:srgbClr val="e0423a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Shape 24"/>
          <p:cNvSpPr/>
          <p:nvPr/>
        </p:nvSpPr>
        <p:spPr>
          <a:xfrm>
            <a:off x="457200" y="2633400"/>
            <a:ext cx="3977280" cy="319680"/>
          </a:xfrm>
          <a:prstGeom prst="rect">
            <a:avLst/>
          </a:prstGeom>
          <a:solidFill>
            <a:srgbClr val="e0423a">
              <a:alpha val="18000"/>
            </a:srgbClr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25"/>
          <p:cNvSpPr/>
          <p:nvPr/>
        </p:nvSpPr>
        <p:spPr>
          <a:xfrm>
            <a:off x="457200" y="2633400"/>
            <a:ext cx="3977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900" spc="49" strike="noStrike">
                <a:solidFill>
                  <a:srgbClr val="e0423a"/>
                </a:solidFill>
                <a:latin typeface="Calibri"/>
              </a:rPr>
              <a:t>POST / REDIRECT / GET PATTERN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594360" y="303588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8f8f2"/>
                </a:solidFill>
                <a:latin typeface="Calibri"/>
              </a:rPr>
              <a:t>1  POST /log  →  validate &amp; save to DB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57" name="Text 27"/>
          <p:cNvSpPr/>
          <p:nvPr/>
        </p:nvSpPr>
        <p:spPr>
          <a:xfrm>
            <a:off x="594360" y="344736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8f8f2"/>
                </a:solidFill>
                <a:latin typeface="Calibri"/>
              </a:rPr>
              <a:t>2  REDIRECT  →  /history (HTTP 302)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58" name="Text 28"/>
          <p:cNvSpPr/>
          <p:nvPr/>
        </p:nvSpPr>
        <p:spPr>
          <a:xfrm>
            <a:off x="594360" y="385884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8f8f2"/>
                </a:solidFill>
                <a:latin typeface="Calibri"/>
              </a:rPr>
              <a:t>3  GET /history  →  render fresh page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59" name="Text 29"/>
          <p:cNvSpPr/>
          <p:nvPr/>
        </p:nvSpPr>
        <p:spPr>
          <a:xfrm>
            <a:off x="594360" y="427032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2c55e"/>
                </a:solidFill>
                <a:latin typeface="Calibri"/>
              </a:rPr>
              <a:t>✔  </a:t>
            </a:r>
            <a:r>
              <a:rPr b="0" lang="en-US" sz="950" spc="-1" strike="noStrike">
                <a:solidFill>
                  <a:srgbClr val="22c55e"/>
                </a:solidFill>
                <a:latin typeface="Calibri"/>
              </a:rPr>
              <a:t>Prevents duplicate on browser refresh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60" name="Shape 30"/>
          <p:cNvSpPr/>
          <p:nvPr/>
        </p:nvSpPr>
        <p:spPr>
          <a:xfrm>
            <a:off x="4572000" y="2633400"/>
            <a:ext cx="4114440" cy="2304000"/>
          </a:xfrm>
          <a:prstGeom prst="rect">
            <a:avLst/>
          </a:prstGeom>
          <a:solidFill>
            <a:srgbClr val="18182a"/>
          </a:solidFill>
          <a:ln w="12700">
            <a:solidFill>
              <a:srgbClr val="4a8df5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1" name="Shape 31"/>
          <p:cNvSpPr/>
          <p:nvPr/>
        </p:nvSpPr>
        <p:spPr>
          <a:xfrm>
            <a:off x="4572000" y="2633400"/>
            <a:ext cx="4114440" cy="319680"/>
          </a:xfrm>
          <a:prstGeom prst="rect">
            <a:avLst/>
          </a:prstGeom>
          <a:solidFill>
            <a:srgbClr val="4a8df5">
              <a:alpha val="18000"/>
            </a:srgbClr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2"/>
          <p:cNvSpPr/>
          <p:nvPr/>
        </p:nvSpPr>
        <p:spPr>
          <a:xfrm>
            <a:off x="4572000" y="263340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900" spc="49" strike="noStrike">
                <a:solidFill>
                  <a:srgbClr val="4a8df5"/>
                </a:solidFill>
                <a:latin typeface="Calibri"/>
              </a:rPr>
              <a:t>FLASK ROUTES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63" name="Text 33"/>
          <p:cNvSpPr/>
          <p:nvPr/>
        </p:nvSpPr>
        <p:spPr>
          <a:xfrm>
            <a:off x="4709160" y="303588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GET /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60920" y="303588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8df5"/>
                </a:solidFill>
                <a:latin typeface="Consolas"/>
                <a:ea typeface="Consolas"/>
              </a:rPr>
              <a:t>home()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65" name="Text 35"/>
          <p:cNvSpPr/>
          <p:nvPr/>
        </p:nvSpPr>
        <p:spPr>
          <a:xfrm>
            <a:off x="4709160" y="335592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GET|POST /log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7360920" y="335592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8df5"/>
                </a:solidFill>
                <a:latin typeface="Consolas"/>
                <a:ea typeface="Consolas"/>
              </a:rPr>
              <a:t>add_entry()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4709160" y="36759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GET /history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68" name="Text 38"/>
          <p:cNvSpPr/>
          <p:nvPr/>
        </p:nvSpPr>
        <p:spPr>
          <a:xfrm>
            <a:off x="7360920" y="36759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8df5"/>
                </a:solidFill>
                <a:latin typeface="Consolas"/>
                <a:ea typeface="Consolas"/>
              </a:rPr>
              <a:t>index()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4709160" y="399600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GET /log/&lt;id&gt;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7360920" y="399600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8df5"/>
                </a:solidFill>
                <a:latin typeface="Consolas"/>
                <a:ea typeface="Consolas"/>
              </a:rPr>
              <a:t>detail()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71" name="Text 41"/>
          <p:cNvSpPr/>
          <p:nvPr/>
        </p:nvSpPr>
        <p:spPr>
          <a:xfrm>
            <a:off x="4709160" y="431604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GET|POST /log/&lt;id&gt;/edit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7360920" y="431604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8df5"/>
                </a:solidFill>
                <a:latin typeface="Consolas"/>
                <a:ea typeface="Consolas"/>
              </a:rPr>
              <a:t>edit_entry()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4709160" y="463608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GET /stats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74" name="Text 44"/>
          <p:cNvSpPr/>
          <p:nvPr/>
        </p:nvSpPr>
        <p:spPr>
          <a:xfrm>
            <a:off x="7360920" y="463608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4a8df5"/>
                </a:solidFill>
                <a:latin typeface="Consolas"/>
                <a:ea typeface="Consolas"/>
              </a:rPr>
              <a:t>get_stats()</a:t>
            </a:r>
            <a:endParaRPr b="0" lang="en-US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Text 1"/>
          <p:cNvSpPr/>
          <p:nvPr/>
        </p:nvSpPr>
        <p:spPr>
          <a:xfrm>
            <a:off x="502920" y="20124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199" strike="noStrike">
                <a:solidFill>
                  <a:srgbClr val="f8f8f2"/>
                </a:solidFill>
                <a:latin typeface="Arial Black"/>
                <a:ea typeface="Arial Black"/>
              </a:rPr>
              <a:t>DATABASE DESIGN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502920" y="5943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299" strike="noStrike">
                <a:solidFill>
                  <a:srgbClr val="14b8a6"/>
                </a:solidFill>
                <a:latin typeface="Calibri"/>
              </a:rPr>
              <a:t>TABLES, RELATIONSHIPS &amp; ORM USAGE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78" name="Shape 3"/>
          <p:cNvSpPr/>
          <p:nvPr/>
        </p:nvSpPr>
        <p:spPr>
          <a:xfrm>
            <a:off x="502920" y="896040"/>
            <a:ext cx="813816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"/>
          <p:cNvSpPr/>
          <p:nvPr/>
        </p:nvSpPr>
        <p:spPr>
          <a:xfrm>
            <a:off x="457200" y="987480"/>
            <a:ext cx="3017160" cy="2559960"/>
          </a:xfrm>
          <a:prstGeom prst="rect">
            <a:avLst/>
          </a:prstGeom>
          <a:solidFill>
            <a:srgbClr val="18182a"/>
          </a:solidFill>
          <a:ln w="12700">
            <a:solidFill>
              <a:srgbClr val="4a8df5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0" name="Shape 5"/>
          <p:cNvSpPr/>
          <p:nvPr/>
        </p:nvSpPr>
        <p:spPr>
          <a:xfrm>
            <a:off x="457200" y="987480"/>
            <a:ext cx="3017160" cy="347040"/>
          </a:xfrm>
          <a:prstGeom prst="rect">
            <a:avLst/>
          </a:prstGeom>
          <a:solidFill>
            <a:srgbClr val="4a8df5">
              <a:alpha val="18000"/>
            </a:srgbClr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Text 6"/>
          <p:cNvSpPr/>
          <p:nvPr/>
        </p:nvSpPr>
        <p:spPr>
          <a:xfrm>
            <a:off x="457200" y="987480"/>
            <a:ext cx="3017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a8df5"/>
                </a:solidFill>
                <a:latin typeface="Calibri"/>
              </a:rPr>
              <a:t>USER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621720" y="14356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8f2"/>
                </a:solidFill>
                <a:latin typeface="Consolas"/>
                <a:ea typeface="Consolas"/>
              </a:rPr>
              <a:t>id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1874520" y="143568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648a"/>
                </a:solidFill>
                <a:latin typeface="Calibri"/>
              </a:rPr>
              <a:t>Integer  PK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621720" y="203004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8f2"/>
                </a:solidFill>
                <a:latin typeface="Consolas"/>
                <a:ea typeface="Consolas"/>
              </a:rPr>
              <a:t>username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85" name="Text 10"/>
          <p:cNvSpPr/>
          <p:nvPr/>
        </p:nvSpPr>
        <p:spPr>
          <a:xfrm>
            <a:off x="1874520" y="203004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648a"/>
                </a:solidFill>
                <a:latin typeface="Calibri"/>
              </a:rPr>
              <a:t>String(80)  UNIQUE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86" name="Text 11"/>
          <p:cNvSpPr/>
          <p:nvPr/>
        </p:nvSpPr>
        <p:spPr>
          <a:xfrm>
            <a:off x="621720" y="262440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8f2"/>
                </a:solidFill>
                <a:latin typeface="Consolas"/>
                <a:ea typeface="Consolas"/>
              </a:rPr>
              <a:t>password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1874520" y="262440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4648a"/>
                </a:solidFill>
                <a:latin typeface="Calibri"/>
              </a:rPr>
              <a:t>String(200)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88" name="Text 13"/>
          <p:cNvSpPr/>
          <p:nvPr/>
        </p:nvSpPr>
        <p:spPr>
          <a:xfrm>
            <a:off x="3493080" y="19659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4648a"/>
                </a:solidFill>
                <a:latin typeface="Calibri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9" name="Shape 14"/>
          <p:cNvSpPr/>
          <p:nvPr/>
        </p:nvSpPr>
        <p:spPr>
          <a:xfrm>
            <a:off x="3474720" y="2176200"/>
            <a:ext cx="731520" cy="360"/>
          </a:xfrm>
          <a:prstGeom prst="line">
            <a:avLst/>
          </a:prstGeom>
          <a:ln w="1270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Text 15"/>
          <p:cNvSpPr/>
          <p:nvPr/>
        </p:nvSpPr>
        <p:spPr>
          <a:xfrm>
            <a:off x="3493080" y="22129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64648a"/>
                </a:solidFill>
                <a:latin typeface="Calibri"/>
              </a:rPr>
              <a:t>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4297680" y="987480"/>
            <a:ext cx="4388760" cy="3977280"/>
          </a:xfrm>
          <a:prstGeom prst="rect">
            <a:avLst/>
          </a:prstGeom>
          <a:solidFill>
            <a:srgbClr val="18182a"/>
          </a:solidFill>
          <a:ln w="12700">
            <a:solidFill>
              <a:srgbClr val="e0423a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2" name="Shape 17"/>
          <p:cNvSpPr/>
          <p:nvPr/>
        </p:nvSpPr>
        <p:spPr>
          <a:xfrm>
            <a:off x="4297680" y="987480"/>
            <a:ext cx="4388760" cy="347040"/>
          </a:xfrm>
          <a:prstGeom prst="rect">
            <a:avLst/>
          </a:prstGeom>
          <a:solidFill>
            <a:srgbClr val="e0423a">
              <a:alpha val="18000"/>
            </a:srgbClr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8"/>
          <p:cNvSpPr/>
          <p:nvPr/>
        </p:nvSpPr>
        <p:spPr>
          <a:xfrm>
            <a:off x="4297680" y="987480"/>
            <a:ext cx="4388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423a"/>
                </a:solidFill>
                <a:latin typeface="Calibri"/>
              </a:rPr>
              <a:t>HABIT ENTRY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4462200" y="142632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f8f2"/>
                </a:solidFill>
                <a:latin typeface="Consolas"/>
                <a:ea typeface="Consolas"/>
              </a:rPr>
              <a:t>id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95" name="Text 20"/>
          <p:cNvSpPr/>
          <p:nvPr/>
        </p:nvSpPr>
        <p:spPr>
          <a:xfrm>
            <a:off x="6602040" y="142632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Integer  PK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96" name="Text 21"/>
          <p:cNvSpPr/>
          <p:nvPr/>
        </p:nvSpPr>
        <p:spPr>
          <a:xfrm>
            <a:off x="4462200" y="169164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8f8f2"/>
                </a:solidFill>
                <a:latin typeface="Consolas"/>
                <a:ea typeface="Consolas"/>
              </a:rPr>
              <a:t>date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97" name="Text 22"/>
          <p:cNvSpPr/>
          <p:nvPr/>
        </p:nvSpPr>
        <p:spPr>
          <a:xfrm>
            <a:off x="6602040" y="169164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Date  UNIQUE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98" name="Text 23"/>
          <p:cNvSpPr/>
          <p:nvPr/>
        </p:nvSpPr>
        <p:spPr>
          <a:xfrm>
            <a:off x="4462200" y="195696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0423a"/>
                </a:solidFill>
                <a:latin typeface="Consolas"/>
                <a:ea typeface="Consolas"/>
              </a:rPr>
              <a:t>gym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99" name="Text 24"/>
          <p:cNvSpPr/>
          <p:nvPr/>
        </p:nvSpPr>
        <p:spPr>
          <a:xfrm>
            <a:off x="6602040" y="195696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Boolean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00" name="Text 25"/>
          <p:cNvSpPr/>
          <p:nvPr/>
        </p:nvSpPr>
        <p:spPr>
          <a:xfrm>
            <a:off x="4462200" y="222192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4a8df5"/>
                </a:solidFill>
                <a:latin typeface="Consolas"/>
                <a:ea typeface="Consolas"/>
              </a:rPr>
              <a:t>water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01" name="Text 26"/>
          <p:cNvSpPr/>
          <p:nvPr/>
        </p:nvSpPr>
        <p:spPr>
          <a:xfrm>
            <a:off x="6602040" y="222192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Integer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02" name="Text 27"/>
          <p:cNvSpPr/>
          <p:nvPr/>
        </p:nvSpPr>
        <p:spPr>
          <a:xfrm>
            <a:off x="4462200" y="248724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2c55e"/>
                </a:solidFill>
                <a:latin typeface="Consolas"/>
                <a:ea typeface="Consolas"/>
              </a:rPr>
              <a:t>healthy_food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03" name="Text 28"/>
          <p:cNvSpPr/>
          <p:nvPr/>
        </p:nvSpPr>
        <p:spPr>
          <a:xfrm>
            <a:off x="6602040" y="248724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Boolean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04" name="Text 29"/>
          <p:cNvSpPr/>
          <p:nvPr/>
        </p:nvSpPr>
        <p:spPr>
          <a:xfrm>
            <a:off x="4462200" y="275220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b6dff"/>
                </a:solidFill>
                <a:latin typeface="Consolas"/>
                <a:ea typeface="Consolas"/>
              </a:rPr>
              <a:t>sleep_hours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05" name="Text 30"/>
          <p:cNvSpPr/>
          <p:nvPr/>
        </p:nvSpPr>
        <p:spPr>
          <a:xfrm>
            <a:off x="6602040" y="275220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Float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06" name="Text 31"/>
          <p:cNvSpPr/>
          <p:nvPr/>
        </p:nvSpPr>
        <p:spPr>
          <a:xfrm>
            <a:off x="4462200" y="301752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b6dff"/>
                </a:solidFill>
                <a:latin typeface="Consolas"/>
                <a:ea typeface="Consolas"/>
              </a:rPr>
              <a:t>sleep_quality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07" name="Text 32"/>
          <p:cNvSpPr/>
          <p:nvPr/>
        </p:nvSpPr>
        <p:spPr>
          <a:xfrm>
            <a:off x="6602040" y="301752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String  (great/ok/bad)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08" name="Text 33"/>
          <p:cNvSpPr/>
          <p:nvPr/>
        </p:nvSpPr>
        <p:spPr>
          <a:xfrm>
            <a:off x="4462200" y="328284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0423a"/>
                </a:solidFill>
                <a:latin typeface="Consolas"/>
                <a:ea typeface="Consolas"/>
              </a:rPr>
              <a:t>exercise_type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09" name="Text 34"/>
          <p:cNvSpPr/>
          <p:nvPr/>
        </p:nvSpPr>
        <p:spPr>
          <a:xfrm>
            <a:off x="6602040" y="328284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String  (comma-separated)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10" name="Text 35"/>
          <p:cNvSpPr/>
          <p:nvPr/>
        </p:nvSpPr>
        <p:spPr>
          <a:xfrm>
            <a:off x="4462200" y="354780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0423a"/>
                </a:solidFill>
                <a:latin typeface="Consolas"/>
                <a:ea typeface="Consolas"/>
              </a:rPr>
              <a:t>exercise_duration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11" name="Text 36"/>
          <p:cNvSpPr/>
          <p:nvPr/>
        </p:nvSpPr>
        <p:spPr>
          <a:xfrm>
            <a:off x="6602040" y="354780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Integer  (minutes)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12" name="Text 37"/>
          <p:cNvSpPr/>
          <p:nvPr/>
        </p:nvSpPr>
        <p:spPr>
          <a:xfrm>
            <a:off x="4462200" y="381312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e0b"/>
                </a:solidFill>
                <a:latin typeface="Consolas"/>
                <a:ea typeface="Consolas"/>
              </a:rPr>
              <a:t>meals_count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13" name="Text 38"/>
          <p:cNvSpPr/>
          <p:nvPr/>
        </p:nvSpPr>
        <p:spPr>
          <a:xfrm>
            <a:off x="6602040" y="381312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Integer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14" name="Text 39"/>
          <p:cNvSpPr/>
          <p:nvPr/>
        </p:nvSpPr>
        <p:spPr>
          <a:xfrm>
            <a:off x="4462200" y="407808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4b8a6"/>
                </a:solidFill>
                <a:latin typeface="Consolas"/>
                <a:ea typeface="Consolas"/>
              </a:rPr>
              <a:t>fruits_veg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15" name="Text 40"/>
          <p:cNvSpPr/>
          <p:nvPr/>
        </p:nvSpPr>
        <p:spPr>
          <a:xfrm>
            <a:off x="6602040" y="407808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Integer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16" name="Text 41"/>
          <p:cNvSpPr/>
          <p:nvPr/>
        </p:nvSpPr>
        <p:spPr>
          <a:xfrm>
            <a:off x="4462200" y="434340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64648a"/>
                </a:solidFill>
                <a:latin typeface="Consolas"/>
                <a:ea typeface="Consolas"/>
              </a:rPr>
              <a:t>notes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17" name="Text 42"/>
          <p:cNvSpPr/>
          <p:nvPr/>
        </p:nvSpPr>
        <p:spPr>
          <a:xfrm>
            <a:off x="6602040" y="4343400"/>
            <a:ext cx="1992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64648a"/>
                </a:solidFill>
                <a:latin typeface="Calibri"/>
              </a:rPr>
              <a:t>String(300)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18" name="Shape 43"/>
          <p:cNvSpPr/>
          <p:nvPr/>
        </p:nvSpPr>
        <p:spPr>
          <a:xfrm>
            <a:off x="457200" y="3675960"/>
            <a:ext cx="3017160" cy="914040"/>
          </a:xfrm>
          <a:prstGeom prst="rect">
            <a:avLst/>
          </a:prstGeom>
          <a:solidFill>
            <a:srgbClr val="14b8a6">
              <a:alpha val="10000"/>
            </a:srgbClr>
          </a:solidFill>
          <a:ln w="127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44"/>
          <p:cNvSpPr/>
          <p:nvPr/>
        </p:nvSpPr>
        <p:spPr>
          <a:xfrm>
            <a:off x="594360" y="372168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750" spc="148" strike="noStrike">
                <a:solidFill>
                  <a:srgbClr val="14b8a6"/>
                </a:solidFill>
                <a:latin typeface="Calibri"/>
              </a:rPr>
              <a:t>ORM USAGE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220" name="Text 45"/>
          <p:cNvSpPr/>
          <p:nvPr/>
        </p:nvSpPr>
        <p:spPr>
          <a:xfrm>
            <a:off x="594360" y="3931920"/>
            <a:ext cx="2742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Flask-SQLAlchemy 3.1</a:t>
            </a:r>
            <a:endParaRPr b="0" lang="en-US" sz="85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db.create_all() on startup</a:t>
            </a:r>
            <a:endParaRPr b="0" lang="en-US" sz="85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Query: HabitEntry.query</a:t>
            </a:r>
            <a:endParaRPr b="0" lang="en-US" sz="85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onsolas"/>
                <a:ea typeface="Consolas"/>
              </a:rPr>
              <a:t>.order_by().all()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2" name="Text 1"/>
          <p:cNvSpPr/>
          <p:nvPr/>
        </p:nvSpPr>
        <p:spPr>
          <a:xfrm>
            <a:off x="502920" y="20124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199" strike="noStrike">
                <a:solidFill>
                  <a:srgbClr val="f8f8f2"/>
                </a:solidFill>
                <a:latin typeface="Arial Black"/>
                <a:ea typeface="Arial Black"/>
              </a:rPr>
              <a:t>NOTABLE ALGORITHMS &amp; LOGIC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23" name="Text 2"/>
          <p:cNvSpPr/>
          <p:nvPr/>
        </p:nvSpPr>
        <p:spPr>
          <a:xfrm>
            <a:off x="502920" y="5943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299" strike="noStrike">
                <a:solidFill>
                  <a:srgbClr val="f59e0b"/>
                </a:solidFill>
                <a:latin typeface="Calibri"/>
              </a:rPr>
              <a:t>BACKEND INTELLIGENCE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24" name="Shape 3"/>
          <p:cNvSpPr/>
          <p:nvPr/>
        </p:nvSpPr>
        <p:spPr>
          <a:xfrm>
            <a:off x="502920" y="896040"/>
            <a:ext cx="813816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Shape 4"/>
          <p:cNvSpPr/>
          <p:nvPr/>
        </p:nvSpPr>
        <p:spPr>
          <a:xfrm>
            <a:off x="457200" y="987480"/>
            <a:ext cx="8229240" cy="1188360"/>
          </a:xfrm>
          <a:prstGeom prst="rect">
            <a:avLst/>
          </a:prstGeom>
          <a:solidFill>
            <a:srgbClr val="10101e"/>
          </a:solidFill>
          <a:ln w="12700">
            <a:solidFill>
              <a:srgbClr val="e0423a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6" name="Shape 5"/>
          <p:cNvSpPr/>
          <p:nvPr/>
        </p:nvSpPr>
        <p:spPr>
          <a:xfrm>
            <a:off x="457200" y="987480"/>
            <a:ext cx="50040" cy="1188360"/>
          </a:xfrm>
          <a:prstGeom prst="rect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6"/>
          <p:cNvSpPr/>
          <p:nvPr/>
        </p:nvSpPr>
        <p:spPr>
          <a:xfrm>
            <a:off x="640080" y="107892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423a"/>
                </a:solidFill>
                <a:latin typeface="Calibri"/>
              </a:rPr>
              <a:t>Exercise Streak — Current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28" name="Text 7"/>
          <p:cNvSpPr/>
          <p:nvPr/>
        </p:nvSpPr>
        <p:spPr>
          <a:xfrm>
            <a:off x="658440" y="142632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0423a"/>
                </a:solidFill>
                <a:latin typeface="Calibri"/>
              </a:rPr>
              <a:t>1.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896040" y="142632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Sort entries by date, newest first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30" name="Text 9"/>
          <p:cNvSpPr/>
          <p:nvPr/>
        </p:nvSpPr>
        <p:spPr>
          <a:xfrm>
            <a:off x="658440" y="160920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0423a"/>
                </a:solidFill>
                <a:latin typeface="Calibri"/>
              </a:rPr>
              <a:t>2.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31" name="Text 10"/>
          <p:cNvSpPr/>
          <p:nvPr/>
        </p:nvSpPr>
        <p:spPr>
          <a:xfrm>
            <a:off x="896040" y="160920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Walk back from today — check consecutive days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32" name="Text 11"/>
          <p:cNvSpPr/>
          <p:nvPr/>
        </p:nvSpPr>
        <p:spPr>
          <a:xfrm>
            <a:off x="658440" y="179208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0423a"/>
                </a:solidFill>
                <a:latin typeface="Calibri"/>
              </a:rPr>
              <a:t>3.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33" name="Text 12"/>
          <p:cNvSpPr/>
          <p:nvPr/>
        </p:nvSpPr>
        <p:spPr>
          <a:xfrm>
            <a:off x="896040" y="179208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Count days where exercise_type ≠ 'none' and ≠ 'rest'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34" name="Text 13"/>
          <p:cNvSpPr/>
          <p:nvPr/>
        </p:nvSpPr>
        <p:spPr>
          <a:xfrm>
            <a:off x="658440" y="197496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0423a"/>
                </a:solidFill>
                <a:latin typeface="Calibri"/>
              </a:rPr>
              <a:t>4.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35" name="Text 14"/>
          <p:cNvSpPr/>
          <p:nvPr/>
        </p:nvSpPr>
        <p:spPr>
          <a:xfrm>
            <a:off x="896040" y="197496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Break at first gap or non-exercise day → return count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36" name="Shape 15"/>
          <p:cNvSpPr/>
          <p:nvPr/>
        </p:nvSpPr>
        <p:spPr>
          <a:xfrm>
            <a:off x="457200" y="2331720"/>
            <a:ext cx="8229240" cy="1188360"/>
          </a:xfrm>
          <a:prstGeom prst="rect">
            <a:avLst/>
          </a:prstGeom>
          <a:solidFill>
            <a:srgbClr val="10101e"/>
          </a:solidFill>
          <a:ln w="12700">
            <a:solidFill>
              <a:srgbClr val="9b6dff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7" name="Shape 16"/>
          <p:cNvSpPr/>
          <p:nvPr/>
        </p:nvSpPr>
        <p:spPr>
          <a:xfrm>
            <a:off x="457200" y="2331720"/>
            <a:ext cx="50040" cy="1188360"/>
          </a:xfrm>
          <a:prstGeom prst="rect">
            <a:avLst/>
          </a:prstGeom>
          <a:solidFill>
            <a:srgbClr val="9b6dff"/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8" name="Text 17"/>
          <p:cNvSpPr/>
          <p:nvPr/>
        </p:nvSpPr>
        <p:spPr>
          <a:xfrm>
            <a:off x="640080" y="242316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9b6dff"/>
                </a:solidFill>
                <a:latin typeface="Calibri"/>
              </a:rPr>
              <a:t>Best Streak — All-Time Record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9" name="Text 18"/>
          <p:cNvSpPr/>
          <p:nvPr/>
        </p:nvSpPr>
        <p:spPr>
          <a:xfrm>
            <a:off x="658440" y="277056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b6dff"/>
                </a:solidFill>
                <a:latin typeface="Calibri"/>
              </a:rPr>
              <a:t>1.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0" name="Text 19"/>
          <p:cNvSpPr/>
          <p:nvPr/>
        </p:nvSpPr>
        <p:spPr>
          <a:xfrm>
            <a:off x="896040" y="277056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Sort entries ascending by date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1" name="Text 20"/>
          <p:cNvSpPr/>
          <p:nvPr/>
        </p:nvSpPr>
        <p:spPr>
          <a:xfrm>
            <a:off x="658440" y="295344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b6dff"/>
                </a:solidFill>
                <a:latin typeface="Calibri"/>
              </a:rPr>
              <a:t>2.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2" name="Text 21"/>
          <p:cNvSpPr/>
          <p:nvPr/>
        </p:nvSpPr>
        <p:spPr>
          <a:xfrm>
            <a:off x="896040" y="295344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For each entry: if diff from prev = 1 day → current++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3" name="Text 22"/>
          <p:cNvSpPr/>
          <p:nvPr/>
        </p:nvSpPr>
        <p:spPr>
          <a:xfrm>
            <a:off x="658440" y="313632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b6dff"/>
                </a:solidFill>
                <a:latin typeface="Calibri"/>
              </a:rPr>
              <a:t>3.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4" name="Text 23"/>
          <p:cNvSpPr/>
          <p:nvPr/>
        </p:nvSpPr>
        <p:spPr>
          <a:xfrm>
            <a:off x="896040" y="313632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Track running best = max(best, current)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5" name="Text 24"/>
          <p:cNvSpPr/>
          <p:nvPr/>
        </p:nvSpPr>
        <p:spPr>
          <a:xfrm>
            <a:off x="658440" y="331920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b6dff"/>
                </a:solidFill>
                <a:latin typeface="Calibri"/>
              </a:rPr>
              <a:t>4.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6" name="Text 25"/>
          <p:cNvSpPr/>
          <p:nvPr/>
        </p:nvSpPr>
        <p:spPr>
          <a:xfrm>
            <a:off x="896040" y="331920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Works for both exercise streak and healthy food streak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7" name="Shape 26"/>
          <p:cNvSpPr/>
          <p:nvPr/>
        </p:nvSpPr>
        <p:spPr>
          <a:xfrm>
            <a:off x="457200" y="3675960"/>
            <a:ext cx="8229240" cy="1188360"/>
          </a:xfrm>
          <a:prstGeom prst="rect">
            <a:avLst/>
          </a:prstGeom>
          <a:solidFill>
            <a:srgbClr val="10101e"/>
          </a:solidFill>
          <a:ln w="12700">
            <a:solidFill>
              <a:srgbClr val="4a8df5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8" name="Shape 27"/>
          <p:cNvSpPr/>
          <p:nvPr/>
        </p:nvSpPr>
        <p:spPr>
          <a:xfrm>
            <a:off x="457200" y="3675960"/>
            <a:ext cx="50040" cy="1188360"/>
          </a:xfrm>
          <a:prstGeom prst="rect">
            <a:avLst/>
          </a:prstGeom>
          <a:solidFill>
            <a:srgbClr val="4a8df5"/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Text 28"/>
          <p:cNvSpPr/>
          <p:nvPr/>
        </p:nvSpPr>
        <p:spPr>
          <a:xfrm>
            <a:off x="640080" y="376740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a8df5"/>
                </a:solidFill>
                <a:latin typeface="Calibri"/>
              </a:rPr>
              <a:t>Stats Computation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50" name="Text 29"/>
          <p:cNvSpPr/>
          <p:nvPr/>
        </p:nvSpPr>
        <p:spPr>
          <a:xfrm>
            <a:off x="658440" y="411480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4a8df5"/>
                </a:solidFill>
                <a:latin typeface="Calibri"/>
              </a:rPr>
              <a:t>1.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51" name="Text 30"/>
          <p:cNvSpPr/>
          <p:nvPr/>
        </p:nvSpPr>
        <p:spPr>
          <a:xfrm>
            <a:off x="896040" y="411480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exercise_pct = exercise_count / total × 100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52" name="Text 31"/>
          <p:cNvSpPr/>
          <p:nvPr/>
        </p:nvSpPr>
        <p:spPr>
          <a:xfrm>
            <a:off x="658440" y="429768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4a8df5"/>
                </a:solidFill>
                <a:latin typeface="Calibri"/>
              </a:rPr>
              <a:t>2.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53" name="Text 32"/>
          <p:cNvSpPr/>
          <p:nvPr/>
        </p:nvSpPr>
        <p:spPr>
          <a:xfrm>
            <a:off x="896040" y="429768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avg_water = sum(water) / total  →  rounded to 1 decimal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54" name="Text 33"/>
          <p:cNvSpPr/>
          <p:nvPr/>
        </p:nvSpPr>
        <p:spPr>
          <a:xfrm>
            <a:off x="658440" y="448056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4a8df5"/>
                </a:solidFill>
                <a:latin typeface="Calibri"/>
              </a:rPr>
              <a:t>3.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55" name="Text 34"/>
          <p:cNvSpPr/>
          <p:nvPr/>
        </p:nvSpPr>
        <p:spPr>
          <a:xfrm>
            <a:off x="896040" y="448056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water_goal_pct = entries with water ≥ 8 / total × 100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56" name="Text 35"/>
          <p:cNvSpPr/>
          <p:nvPr/>
        </p:nvSpPr>
        <p:spPr>
          <a:xfrm>
            <a:off x="658440" y="4663440"/>
            <a:ext cx="200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4a8df5"/>
                </a:solidFill>
                <a:latin typeface="Calibri"/>
              </a:rPr>
              <a:t>4.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57" name="Text 36"/>
          <p:cNvSpPr/>
          <p:nvPr/>
        </p:nvSpPr>
        <p:spPr>
          <a:xfrm>
            <a:off x="896040" y="4663440"/>
            <a:ext cx="749772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4c4d4"/>
                </a:solidFill>
                <a:latin typeface="Calibri"/>
              </a:rPr>
              <a:t>Chart data = last 7 entries sliced from sorted queryset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58" name="Shape 37"/>
          <p:cNvSpPr/>
          <p:nvPr/>
        </p:nvSpPr>
        <p:spPr>
          <a:xfrm>
            <a:off x="457200" y="4864320"/>
            <a:ext cx="8229240" cy="273960"/>
          </a:xfrm>
          <a:prstGeom prst="rect">
            <a:avLst/>
          </a:prstGeom>
          <a:solidFill>
            <a:srgbClr val="f59e0b">
              <a:alpha val="10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Text 38"/>
          <p:cNvSpPr/>
          <p:nvPr/>
        </p:nvSpPr>
        <p:spPr>
          <a:xfrm>
            <a:off x="669960" y="4685040"/>
            <a:ext cx="795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"/>
          <p:cNvSpPr txBox="1"/>
          <p:nvPr/>
        </p:nvSpPr>
        <p:spPr>
          <a:xfrm>
            <a:off x="517320" y="4939200"/>
            <a:ext cx="6569280" cy="199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50" spc="-1" strike="noStrike">
                <a:solidFill>
                  <a:srgbClr val="f59e0b"/>
                </a:solidFill>
                <a:latin typeface="Calibri"/>
              </a:rPr>
              <a:t>Auth: login_required decorator wraps protected routes · session['user'] persists across requests · PRG pattern prevents duplicate form submissions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Text 1"/>
          <p:cNvSpPr/>
          <p:nvPr/>
        </p:nvSpPr>
        <p:spPr>
          <a:xfrm>
            <a:off x="502920" y="20124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199" strike="noStrike">
                <a:solidFill>
                  <a:srgbClr val="f8f8f2"/>
                </a:solidFill>
                <a:latin typeface="Arial Black"/>
                <a:ea typeface="Arial Black"/>
              </a:rPr>
              <a:t>DEVELOPMENT PROCESS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63" name="Text 2"/>
          <p:cNvSpPr/>
          <p:nvPr/>
        </p:nvSpPr>
        <p:spPr>
          <a:xfrm>
            <a:off x="502920" y="5943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299" strike="noStrike">
                <a:solidFill>
                  <a:srgbClr val="22c55e"/>
                </a:solidFill>
                <a:latin typeface="Calibri"/>
              </a:rPr>
              <a:t>CHALLENGES, SOLUTIONS &amp; LEARNINGS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64" name="Shape 3"/>
          <p:cNvSpPr/>
          <p:nvPr/>
        </p:nvSpPr>
        <p:spPr>
          <a:xfrm>
            <a:off x="502920" y="896040"/>
            <a:ext cx="813816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5" name="Shape 4"/>
          <p:cNvSpPr/>
          <p:nvPr/>
        </p:nvSpPr>
        <p:spPr>
          <a:xfrm>
            <a:off x="457200" y="987480"/>
            <a:ext cx="8229240" cy="685440"/>
          </a:xfrm>
          <a:prstGeom prst="rect">
            <a:avLst/>
          </a:prstGeom>
          <a:solidFill>
            <a:srgbClr val="10101e"/>
          </a:solidFill>
          <a:ln w="12700">
            <a:solidFill>
              <a:srgbClr val="e0423a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6" name="Shape 5"/>
          <p:cNvSpPr/>
          <p:nvPr/>
        </p:nvSpPr>
        <p:spPr>
          <a:xfrm>
            <a:off x="457200" y="987480"/>
            <a:ext cx="50040" cy="685440"/>
          </a:xfrm>
          <a:prstGeom prst="rect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6"/>
          <p:cNvSpPr/>
          <p:nvPr/>
        </p:nvSpPr>
        <p:spPr>
          <a:xfrm>
            <a:off x="658440" y="103320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0423a"/>
                </a:solidFill>
                <a:latin typeface="Calibri"/>
              </a:rPr>
              <a:t>⚠  </a:t>
            </a:r>
            <a:r>
              <a:rPr b="1" lang="en-US" sz="1050" spc="-1" strike="noStrike">
                <a:solidFill>
                  <a:srgbClr val="e0423a"/>
                </a:solidFill>
                <a:latin typeface="Calibri"/>
              </a:rPr>
              <a:t>SQLite Date Type Error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268" name="Text 7"/>
          <p:cNvSpPr/>
          <p:nvPr/>
        </p:nvSpPr>
        <p:spPr>
          <a:xfrm>
            <a:off x="658440" y="130752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✓  </a:t>
            </a: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Fix: date_type.fromisoformat() converts string → Python date before DB insert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69" name="Shape 8"/>
          <p:cNvSpPr/>
          <p:nvPr/>
        </p:nvSpPr>
        <p:spPr>
          <a:xfrm>
            <a:off x="457200" y="1792080"/>
            <a:ext cx="8229240" cy="685440"/>
          </a:xfrm>
          <a:prstGeom prst="rect">
            <a:avLst/>
          </a:prstGeom>
          <a:solidFill>
            <a:srgbClr val="10101e"/>
          </a:solidFill>
          <a:ln w="12700">
            <a:solidFill>
              <a:srgbClr val="4a8df5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0" name="Shape 9"/>
          <p:cNvSpPr/>
          <p:nvPr/>
        </p:nvSpPr>
        <p:spPr>
          <a:xfrm>
            <a:off x="457200" y="1792080"/>
            <a:ext cx="50040" cy="685440"/>
          </a:xfrm>
          <a:prstGeom prst="rect">
            <a:avLst/>
          </a:prstGeom>
          <a:solidFill>
            <a:srgbClr val="4a8df5"/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10"/>
          <p:cNvSpPr/>
          <p:nvPr/>
        </p:nvSpPr>
        <p:spPr>
          <a:xfrm>
            <a:off x="658440" y="183780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4a8df5"/>
                </a:solidFill>
                <a:latin typeface="Calibri"/>
              </a:rPr>
              <a:t>⚠  </a:t>
            </a:r>
            <a:r>
              <a:rPr b="1" lang="en-US" sz="1050" spc="-1" strike="noStrike">
                <a:solidFill>
                  <a:srgbClr val="4a8df5"/>
                </a:solidFill>
                <a:latin typeface="Calibri"/>
              </a:rPr>
              <a:t>url_for() Breaking Navigation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272" name="Text 11"/>
          <p:cNvSpPr/>
          <p:nvPr/>
        </p:nvSpPr>
        <p:spPr>
          <a:xfrm>
            <a:off x="658440" y="211212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✓  </a:t>
            </a: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Fix: Replaced dynamic url_for() with direct paths in base.html navbar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73" name="Shape 12"/>
          <p:cNvSpPr/>
          <p:nvPr/>
        </p:nvSpPr>
        <p:spPr>
          <a:xfrm>
            <a:off x="457200" y="2597040"/>
            <a:ext cx="8229240" cy="685440"/>
          </a:xfrm>
          <a:prstGeom prst="rect">
            <a:avLst/>
          </a:prstGeom>
          <a:solidFill>
            <a:srgbClr val="10101e"/>
          </a:solidFill>
          <a:ln w="12700">
            <a:solidFill>
              <a:srgbClr val="9b6dff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4" name="Shape 13"/>
          <p:cNvSpPr/>
          <p:nvPr/>
        </p:nvSpPr>
        <p:spPr>
          <a:xfrm>
            <a:off x="457200" y="2597040"/>
            <a:ext cx="50040" cy="685440"/>
          </a:xfrm>
          <a:prstGeom prst="rect">
            <a:avLst/>
          </a:prstGeom>
          <a:solidFill>
            <a:srgbClr val="9b6dff"/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14"/>
          <p:cNvSpPr/>
          <p:nvPr/>
        </p:nvSpPr>
        <p:spPr>
          <a:xfrm>
            <a:off x="658440" y="264276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9b6dff"/>
                </a:solidFill>
                <a:latin typeface="Calibri"/>
              </a:rPr>
              <a:t>⚠  </a:t>
            </a:r>
            <a:r>
              <a:rPr b="1" lang="en-US" sz="1050" spc="-1" strike="noStrike">
                <a:solidFill>
                  <a:srgbClr val="9b6dff"/>
                </a:solidFill>
                <a:latin typeface="Calibri"/>
              </a:rPr>
              <a:t>Chart.js Not Rendering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276" name="Text 15"/>
          <p:cNvSpPr/>
          <p:nvPr/>
        </p:nvSpPr>
        <p:spPr>
          <a:xfrm>
            <a:off x="658440" y="29170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✓  </a:t>
            </a: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Fix: s.onload = initCharts() — script injected dynamically, fires only after CDN loads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77" name="Shape 16"/>
          <p:cNvSpPr/>
          <p:nvPr/>
        </p:nvSpPr>
        <p:spPr>
          <a:xfrm>
            <a:off x="457200" y="3401640"/>
            <a:ext cx="8229240" cy="685440"/>
          </a:xfrm>
          <a:prstGeom prst="rect">
            <a:avLst/>
          </a:prstGeom>
          <a:solidFill>
            <a:srgbClr val="10101e"/>
          </a:solidFill>
          <a:ln w="12700">
            <a:solidFill>
              <a:srgbClr val="f59e0b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8" name="Shape 17"/>
          <p:cNvSpPr/>
          <p:nvPr/>
        </p:nvSpPr>
        <p:spPr>
          <a:xfrm>
            <a:off x="457200" y="3401640"/>
            <a:ext cx="50040" cy="685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Text 18"/>
          <p:cNvSpPr/>
          <p:nvPr/>
        </p:nvSpPr>
        <p:spPr>
          <a:xfrm>
            <a:off x="658440" y="344736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</a:rPr>
              <a:t>⚠  </a:t>
            </a:r>
            <a:r>
              <a:rPr b="1" lang="en-US" sz="1050" spc="-1" strike="noStrike">
                <a:solidFill>
                  <a:srgbClr val="f59e0b"/>
                </a:solidFill>
                <a:latin typeface="Calibri"/>
              </a:rPr>
              <a:t>Exercise Multi-Select UI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280" name="Text 19"/>
          <p:cNvSpPr/>
          <p:nvPr/>
        </p:nvSpPr>
        <p:spPr>
          <a:xfrm>
            <a:off x="658440" y="37216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✓  </a:t>
            </a: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Fix: Radio → Checkboxes, getlist(), comma-separated string stored in DB field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81" name="Shape 20"/>
          <p:cNvSpPr/>
          <p:nvPr/>
        </p:nvSpPr>
        <p:spPr>
          <a:xfrm>
            <a:off x="457200" y="4206240"/>
            <a:ext cx="8229240" cy="685440"/>
          </a:xfrm>
          <a:prstGeom prst="rect">
            <a:avLst/>
          </a:prstGeom>
          <a:solidFill>
            <a:srgbClr val="10101e"/>
          </a:solidFill>
          <a:ln w="12700">
            <a:solidFill>
              <a:srgbClr val="14b8a6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2" name="Shape 21"/>
          <p:cNvSpPr/>
          <p:nvPr/>
        </p:nvSpPr>
        <p:spPr>
          <a:xfrm>
            <a:off x="457200" y="4206240"/>
            <a:ext cx="50040" cy="6854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22"/>
          <p:cNvSpPr/>
          <p:nvPr/>
        </p:nvSpPr>
        <p:spPr>
          <a:xfrm>
            <a:off x="658440" y="425196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b8a6"/>
                </a:solidFill>
                <a:latin typeface="Calibri"/>
              </a:rPr>
              <a:t>⚠  </a:t>
            </a:r>
            <a:r>
              <a:rPr b="1" lang="en-US" sz="1050" spc="-1" strike="noStrike">
                <a:solidFill>
                  <a:srgbClr val="14b8a6"/>
                </a:solidFill>
                <a:latin typeface="Calibri"/>
              </a:rPr>
              <a:t>CSS Style Block Conflicts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284" name="Text 23"/>
          <p:cNvSpPr/>
          <p:nvPr/>
        </p:nvSpPr>
        <p:spPr>
          <a:xfrm>
            <a:off x="658440" y="45262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✓  </a:t>
            </a:r>
            <a:r>
              <a:rPr b="0" lang="en-US" sz="900" spc="-1" strike="noStrike">
                <a:solidFill>
                  <a:srgbClr val="f8f8f2"/>
                </a:solidFill>
                <a:latin typeface="Calibri"/>
              </a:rPr>
              <a:t>Fix: Moved &lt;style&gt; to {% block styles %} in &lt;head&gt; via base.html inheritance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85" name="Text 24"/>
          <p:cNvSpPr/>
          <p:nvPr/>
        </p:nvSpPr>
        <p:spPr>
          <a:xfrm>
            <a:off x="457200" y="493776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64648a"/>
                </a:solidFill>
                <a:latin typeface="Calibri"/>
              </a:rPr>
              <a:t>KEY LEARNINGS  →  Full-stack Flask · Git team workflow · SQL schema design · async JS · CSS architecture · Chart.js integration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7" name="Text 1"/>
          <p:cNvSpPr/>
          <p:nvPr/>
        </p:nvSpPr>
        <p:spPr>
          <a:xfrm>
            <a:off x="502920" y="20124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800" spc="199" strike="noStrike">
                <a:solidFill>
                  <a:srgbClr val="f8f8f2"/>
                </a:solidFill>
                <a:latin typeface="Arial Black"/>
                <a:ea typeface="Arial Black"/>
              </a:rPr>
              <a:t>LIVE DEMONSTRATION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88" name="Text 2"/>
          <p:cNvSpPr/>
          <p:nvPr/>
        </p:nvSpPr>
        <p:spPr>
          <a:xfrm>
            <a:off x="502920" y="5943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299" strike="noStrike">
                <a:solidFill>
                  <a:srgbClr val="14b8a6"/>
                </a:solidFill>
                <a:latin typeface="Calibri"/>
              </a:rPr>
              <a:t>WALK-THROUGH OF KEY FEATURES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9" name="Shape 3"/>
          <p:cNvSpPr/>
          <p:nvPr/>
        </p:nvSpPr>
        <p:spPr>
          <a:xfrm>
            <a:off x="502920" y="896040"/>
            <a:ext cx="813816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4"/>
          <p:cNvSpPr/>
          <p:nvPr/>
        </p:nvSpPr>
        <p:spPr>
          <a:xfrm>
            <a:off x="502920" y="9601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648a"/>
                </a:solidFill>
                <a:latin typeface="Calibri"/>
              </a:rPr>
              <a:t>Demo order — estimated 4 minutes: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1" name="Shape 5"/>
          <p:cNvSpPr/>
          <p:nvPr/>
        </p:nvSpPr>
        <p:spPr>
          <a:xfrm>
            <a:off x="457200" y="1280160"/>
            <a:ext cx="8229240" cy="511560"/>
          </a:xfrm>
          <a:prstGeom prst="rect">
            <a:avLst/>
          </a:prstGeom>
          <a:solidFill>
            <a:srgbClr val="10101e"/>
          </a:solidFill>
          <a:ln w="12700">
            <a:solidFill>
              <a:srgbClr val="4a8df5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2" name="Shape 6"/>
          <p:cNvSpPr/>
          <p:nvPr/>
        </p:nvSpPr>
        <p:spPr>
          <a:xfrm>
            <a:off x="457200" y="1280160"/>
            <a:ext cx="1416960" cy="511560"/>
          </a:xfrm>
          <a:prstGeom prst="rect">
            <a:avLst/>
          </a:prstGeom>
          <a:solidFill>
            <a:srgbClr val="4a8df5">
              <a:alpha val="12000"/>
            </a:srgbClr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Text 7"/>
          <p:cNvSpPr/>
          <p:nvPr/>
        </p:nvSpPr>
        <p:spPr>
          <a:xfrm>
            <a:off x="502920" y="1280160"/>
            <a:ext cx="1325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4a8df5"/>
                </a:solidFill>
                <a:latin typeface="Calibri"/>
              </a:rPr>
              <a:t>Home Page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94" name="Text 8"/>
          <p:cNvSpPr/>
          <p:nvPr/>
        </p:nvSpPr>
        <p:spPr>
          <a:xfrm>
            <a:off x="1993320" y="1371600"/>
            <a:ext cx="5943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Dark hero section, lifter mascot, 3 habit feature cards, responsive navbar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95" name="Text 9"/>
          <p:cNvSpPr/>
          <p:nvPr/>
        </p:nvSpPr>
        <p:spPr>
          <a:xfrm>
            <a:off x="7973640" y="1371600"/>
            <a:ext cx="621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4a8df5"/>
                </a:solidFill>
                <a:latin typeface="Calibri"/>
              </a:rPr>
              <a:t>~30s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96" name="Shape 10"/>
          <p:cNvSpPr/>
          <p:nvPr/>
        </p:nvSpPr>
        <p:spPr>
          <a:xfrm>
            <a:off x="457200" y="1874520"/>
            <a:ext cx="8229240" cy="511560"/>
          </a:xfrm>
          <a:prstGeom prst="rect">
            <a:avLst/>
          </a:prstGeom>
          <a:solidFill>
            <a:srgbClr val="10101e"/>
          </a:solidFill>
          <a:ln w="12700">
            <a:solidFill>
              <a:srgbClr val="e0423a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11"/>
          <p:cNvSpPr/>
          <p:nvPr/>
        </p:nvSpPr>
        <p:spPr>
          <a:xfrm>
            <a:off x="457200" y="1874520"/>
            <a:ext cx="1416960" cy="511560"/>
          </a:xfrm>
          <a:prstGeom prst="rect">
            <a:avLst/>
          </a:prstGeom>
          <a:solidFill>
            <a:srgbClr val="e0423a">
              <a:alpha val="12000"/>
            </a:srgbClr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12"/>
          <p:cNvSpPr/>
          <p:nvPr/>
        </p:nvSpPr>
        <p:spPr>
          <a:xfrm>
            <a:off x="502920" y="1874520"/>
            <a:ext cx="1325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0423a"/>
                </a:solidFill>
                <a:latin typeface="Calibri"/>
              </a:rPr>
              <a:t>Sign Up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99" name="Text 13"/>
          <p:cNvSpPr/>
          <p:nvPr/>
        </p:nvSpPr>
        <p:spPr>
          <a:xfrm>
            <a:off x="1993320" y="1965960"/>
            <a:ext cx="5943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Create account → flash success message → session created → redirected to home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00" name="Text 14"/>
          <p:cNvSpPr/>
          <p:nvPr/>
        </p:nvSpPr>
        <p:spPr>
          <a:xfrm>
            <a:off x="7973640" y="1965960"/>
            <a:ext cx="621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e0423a"/>
                </a:solidFill>
                <a:latin typeface="Calibri"/>
              </a:rPr>
              <a:t>~30s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01" name="Shape 15"/>
          <p:cNvSpPr/>
          <p:nvPr/>
        </p:nvSpPr>
        <p:spPr>
          <a:xfrm>
            <a:off x="457200" y="2468880"/>
            <a:ext cx="8229240" cy="511560"/>
          </a:xfrm>
          <a:prstGeom prst="rect">
            <a:avLst/>
          </a:prstGeom>
          <a:solidFill>
            <a:srgbClr val="10101e"/>
          </a:solidFill>
          <a:ln w="12700">
            <a:solidFill>
              <a:srgbClr val="9b6dff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2" name="Shape 16"/>
          <p:cNvSpPr/>
          <p:nvPr/>
        </p:nvSpPr>
        <p:spPr>
          <a:xfrm>
            <a:off x="457200" y="2468880"/>
            <a:ext cx="1416960" cy="511560"/>
          </a:xfrm>
          <a:prstGeom prst="rect">
            <a:avLst/>
          </a:prstGeom>
          <a:solidFill>
            <a:srgbClr val="9b6dff">
              <a:alpha val="12000"/>
            </a:srgbClr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Text 17"/>
          <p:cNvSpPr/>
          <p:nvPr/>
        </p:nvSpPr>
        <p:spPr>
          <a:xfrm>
            <a:off x="502920" y="2468880"/>
            <a:ext cx="1325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9b6dff"/>
                </a:solidFill>
                <a:latin typeface="Calibri"/>
              </a:rPr>
              <a:t>Log Habits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304" name="Text 18"/>
          <p:cNvSpPr/>
          <p:nvPr/>
        </p:nvSpPr>
        <p:spPr>
          <a:xfrm>
            <a:off x="1993320" y="2560320"/>
            <a:ext cx="5943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Multi-select exercise checkboxes · sleep quality pills · water stepper · save entry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05" name="Text 19"/>
          <p:cNvSpPr/>
          <p:nvPr/>
        </p:nvSpPr>
        <p:spPr>
          <a:xfrm>
            <a:off x="7973640" y="2560320"/>
            <a:ext cx="621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b6dff"/>
                </a:solidFill>
                <a:latin typeface="Calibri"/>
              </a:rPr>
              <a:t>~60s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06" name="Shape 20"/>
          <p:cNvSpPr/>
          <p:nvPr/>
        </p:nvSpPr>
        <p:spPr>
          <a:xfrm>
            <a:off x="457200" y="3063240"/>
            <a:ext cx="8229240" cy="511560"/>
          </a:xfrm>
          <a:prstGeom prst="rect">
            <a:avLst/>
          </a:prstGeom>
          <a:solidFill>
            <a:srgbClr val="10101e"/>
          </a:solidFill>
          <a:ln w="12700">
            <a:solidFill>
              <a:srgbClr val="14b8a6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7" name="Shape 21"/>
          <p:cNvSpPr/>
          <p:nvPr/>
        </p:nvSpPr>
        <p:spPr>
          <a:xfrm>
            <a:off x="457200" y="3063240"/>
            <a:ext cx="1416960" cy="511560"/>
          </a:xfrm>
          <a:prstGeom prst="rect">
            <a:avLst/>
          </a:prstGeom>
          <a:solidFill>
            <a:srgbClr val="14b8a6">
              <a:alpha val="12000"/>
            </a:srgbClr>
          </a:solidFill>
          <a:ln w="127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Text 22"/>
          <p:cNvSpPr/>
          <p:nvPr/>
        </p:nvSpPr>
        <p:spPr>
          <a:xfrm>
            <a:off x="502920" y="3063240"/>
            <a:ext cx="1325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b8a6"/>
                </a:solidFill>
                <a:latin typeface="Calibri"/>
              </a:rPr>
              <a:t>History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309" name="Text 23"/>
          <p:cNvSpPr/>
          <p:nvPr/>
        </p:nvSpPr>
        <p:spPr>
          <a:xfrm>
            <a:off x="1993320" y="3154680"/>
            <a:ext cx="5943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Table: sleep badge (great/ok/bad) · exercise ✔ with type · color-coded water · action buttons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10" name="Text 24"/>
          <p:cNvSpPr/>
          <p:nvPr/>
        </p:nvSpPr>
        <p:spPr>
          <a:xfrm>
            <a:off x="7973640" y="3154680"/>
            <a:ext cx="621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4b8a6"/>
                </a:solidFill>
                <a:latin typeface="Calibri"/>
              </a:rPr>
              <a:t>~30s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11" name="Shape 25"/>
          <p:cNvSpPr/>
          <p:nvPr/>
        </p:nvSpPr>
        <p:spPr>
          <a:xfrm>
            <a:off x="457200" y="3657600"/>
            <a:ext cx="8229240" cy="511560"/>
          </a:xfrm>
          <a:prstGeom prst="rect">
            <a:avLst/>
          </a:prstGeom>
          <a:solidFill>
            <a:srgbClr val="10101e"/>
          </a:solidFill>
          <a:ln w="12700">
            <a:solidFill>
              <a:srgbClr val="f59e0b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2" name="Shape 26"/>
          <p:cNvSpPr/>
          <p:nvPr/>
        </p:nvSpPr>
        <p:spPr>
          <a:xfrm>
            <a:off x="457200" y="3657600"/>
            <a:ext cx="1416960" cy="511560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Text 27"/>
          <p:cNvSpPr/>
          <p:nvPr/>
        </p:nvSpPr>
        <p:spPr>
          <a:xfrm>
            <a:off x="502920" y="3657600"/>
            <a:ext cx="1325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59e0b"/>
                </a:solidFill>
                <a:latin typeface="Calibri"/>
              </a:rPr>
              <a:t>Stats Page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314" name="Text 28"/>
          <p:cNvSpPr/>
          <p:nvPr/>
        </p:nvSpPr>
        <p:spPr>
          <a:xfrm>
            <a:off x="1993320" y="3749040"/>
            <a:ext cx="5943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6 KPI cards · exercise+food streaks with 🔥 · Chart.js water bar + sleep line + habit chart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15" name="Text 29"/>
          <p:cNvSpPr/>
          <p:nvPr/>
        </p:nvSpPr>
        <p:spPr>
          <a:xfrm>
            <a:off x="7973640" y="3749040"/>
            <a:ext cx="621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59e0b"/>
                </a:solidFill>
                <a:latin typeface="Calibri"/>
              </a:rPr>
              <a:t>~60s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16" name="Shape 30"/>
          <p:cNvSpPr/>
          <p:nvPr/>
        </p:nvSpPr>
        <p:spPr>
          <a:xfrm>
            <a:off x="457200" y="4251960"/>
            <a:ext cx="8229240" cy="511560"/>
          </a:xfrm>
          <a:prstGeom prst="rect">
            <a:avLst/>
          </a:prstGeom>
          <a:solidFill>
            <a:srgbClr val="10101e"/>
          </a:solidFill>
          <a:ln w="12700">
            <a:solidFill>
              <a:srgbClr val="22c55e"/>
            </a:solidFill>
            <a:round/>
          </a:ln>
          <a:effectLst>
            <a:outerShdw algn="bl" blurRad="76320" dir="8724462" dist="2536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7" name="Shape 31"/>
          <p:cNvSpPr/>
          <p:nvPr/>
        </p:nvSpPr>
        <p:spPr>
          <a:xfrm>
            <a:off x="457200" y="4251960"/>
            <a:ext cx="1416960" cy="511560"/>
          </a:xfrm>
          <a:prstGeom prst="rect">
            <a:avLst/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Text 32"/>
          <p:cNvSpPr/>
          <p:nvPr/>
        </p:nvSpPr>
        <p:spPr>
          <a:xfrm>
            <a:off x="502920" y="4251960"/>
            <a:ext cx="1325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22c55e"/>
                </a:solidFill>
                <a:latin typeface="Calibri"/>
              </a:rPr>
              <a:t>Detail View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319" name="Text 33"/>
          <p:cNvSpPr/>
          <p:nvPr/>
        </p:nvSpPr>
        <p:spPr>
          <a:xfrm>
            <a:off x="1993320" y="4343400"/>
            <a:ext cx="5943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c4c4d4"/>
                </a:solidFill>
                <a:latin typeface="Calibri"/>
              </a:rPr>
              <a:t>Per-entry card breakdown · day score bar (out of 5 goals) · edit and delete flow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20" name="Text 34"/>
          <p:cNvSpPr/>
          <p:nvPr/>
        </p:nvSpPr>
        <p:spPr>
          <a:xfrm>
            <a:off x="7973640" y="4343400"/>
            <a:ext cx="621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2c55e"/>
                </a:solidFill>
                <a:latin typeface="Calibri"/>
              </a:rPr>
              <a:t>~30s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21" name="Shape 35"/>
          <p:cNvSpPr/>
          <p:nvPr/>
        </p:nvSpPr>
        <p:spPr>
          <a:xfrm>
            <a:off x="457560" y="4888080"/>
            <a:ext cx="8229240" cy="255600"/>
          </a:xfrm>
          <a:prstGeom prst="rect">
            <a:avLst/>
          </a:prstGeom>
          <a:solidFill>
            <a:srgbClr val="18182a"/>
          </a:solidFill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2" name="Text 36"/>
          <p:cNvSpPr/>
          <p:nvPr/>
        </p:nvSpPr>
        <p:spPr>
          <a:xfrm>
            <a:off x="594360" y="4956120"/>
            <a:ext cx="7954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"/>
          <p:cNvSpPr txBox="1"/>
          <p:nvPr/>
        </p:nvSpPr>
        <p:spPr>
          <a:xfrm>
            <a:off x="1420920" y="4944600"/>
            <a:ext cx="5894280" cy="199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50" spc="-1" strike="noStrike">
                <a:solidFill>
                  <a:srgbClr val="64648a"/>
                </a:solidFill>
                <a:latin typeface="Calibri"/>
              </a:rPr>
              <a:t>💡  </a:t>
            </a:r>
            <a:r>
              <a:rPr b="0" lang="en-US" sz="850" spc="-1" strike="noStrike">
                <a:solidFill>
                  <a:srgbClr val="64648a"/>
                </a:solidFill>
                <a:latin typeface="Calibri"/>
              </a:rPr>
              <a:t>Backup plan: screenshots saved locally in case of demo failure · database seeded with 9 real entries · server tested before class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-1371600" y="-457200"/>
            <a:ext cx="5486040" cy="5486040"/>
          </a:xfrm>
          <a:prstGeom prst="ellipse">
            <a:avLst/>
          </a:prstGeom>
          <a:solidFill>
            <a:srgbClr val="e0423a">
              <a:alpha val="7000"/>
            </a:srgbClr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5" name="Shape 1"/>
          <p:cNvSpPr/>
          <p:nvPr/>
        </p:nvSpPr>
        <p:spPr>
          <a:xfrm>
            <a:off x="5943600" y="1828800"/>
            <a:ext cx="5486040" cy="5486040"/>
          </a:xfrm>
          <a:prstGeom prst="ellipse">
            <a:avLst/>
          </a:prstGeom>
          <a:solidFill>
            <a:srgbClr val="9b6dff">
              <a:alpha val="7000"/>
            </a:srgbClr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Shape 2"/>
          <p:cNvSpPr/>
          <p:nvPr/>
        </p:nvSpPr>
        <p:spPr>
          <a:xfrm>
            <a:off x="2971800" y="1829160"/>
            <a:ext cx="4571640" cy="4571640"/>
          </a:xfrm>
          <a:prstGeom prst="ellipse">
            <a:avLst/>
          </a:prstGeom>
          <a:solidFill>
            <a:srgbClr val="4a8df5">
              <a:alpha val="4000"/>
            </a:srgbClr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7" name="Shape 3"/>
          <p:cNvSpPr/>
          <p:nvPr/>
        </p:nvSpPr>
        <p:spPr>
          <a:xfrm>
            <a:off x="0" y="0"/>
            <a:ext cx="9143640" cy="36360"/>
          </a:xfrm>
          <a:prstGeom prst="rect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8" name="Text 4"/>
          <p:cNvSpPr/>
          <p:nvPr/>
        </p:nvSpPr>
        <p:spPr>
          <a:xfrm>
            <a:off x="457200" y="5029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497" strike="noStrike">
                <a:solidFill>
                  <a:srgbClr val="f8f8f2"/>
                </a:solidFill>
                <a:latin typeface="Arial Black"/>
                <a:ea typeface="Arial Black"/>
              </a:rPr>
              <a:t>CONCLUSION</a:t>
            </a:r>
            <a:endParaRPr b="0" lang="en-US" sz="5200" spc="-1" strike="noStrike"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1371600" y="1371600"/>
            <a:ext cx="6400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00" spc="299" strike="noStrike">
                <a:solidFill>
                  <a:srgbClr val="64648a"/>
                </a:solidFill>
                <a:latin typeface="Calibri"/>
              </a:rPr>
              <a:t>KEY TAKEAWAYS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30" name="Shape 6"/>
          <p:cNvSpPr/>
          <p:nvPr/>
        </p:nvSpPr>
        <p:spPr>
          <a:xfrm>
            <a:off x="3200400" y="1600200"/>
            <a:ext cx="274320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Shape 7"/>
          <p:cNvSpPr/>
          <p:nvPr/>
        </p:nvSpPr>
        <p:spPr>
          <a:xfrm>
            <a:off x="1188720" y="1828800"/>
            <a:ext cx="164160" cy="164160"/>
          </a:xfrm>
          <a:prstGeom prst="rect">
            <a:avLst/>
          </a:prstGeom>
          <a:solidFill>
            <a:srgbClr val="e0423a"/>
          </a:solidFill>
          <a:ln w="12700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2" name="Text 8"/>
          <p:cNvSpPr/>
          <p:nvPr/>
        </p:nvSpPr>
        <p:spPr>
          <a:xfrm>
            <a:off x="1481400" y="1792080"/>
            <a:ext cx="6217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8f8f2"/>
                </a:solidFill>
                <a:latin typeface="Calibri"/>
              </a:rPr>
              <a:t>Built a production-quality Flask app: auth, ORM, chart analytics, streak algorithms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333" name="Shape 9"/>
          <p:cNvSpPr/>
          <p:nvPr/>
        </p:nvSpPr>
        <p:spPr>
          <a:xfrm>
            <a:off x="1188720" y="2395800"/>
            <a:ext cx="164160" cy="164160"/>
          </a:xfrm>
          <a:prstGeom prst="rect">
            <a:avLst/>
          </a:prstGeom>
          <a:solidFill>
            <a:srgbClr val="4a8df5"/>
          </a:solidFill>
          <a:ln w="12700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4" name="Text 10"/>
          <p:cNvSpPr/>
          <p:nvPr/>
        </p:nvSpPr>
        <p:spPr>
          <a:xfrm>
            <a:off x="1481400" y="2359080"/>
            <a:ext cx="6217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8f8f2"/>
                </a:solidFill>
                <a:latin typeface="Calibri"/>
              </a:rPr>
              <a:t>Delivered beyond MVP scope — multi-select exercise, Chart.js, dark UI, streaks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335" name="Shape 11"/>
          <p:cNvSpPr/>
          <p:nvPr/>
        </p:nvSpPr>
        <p:spPr>
          <a:xfrm>
            <a:off x="1188720" y="2962800"/>
            <a:ext cx="164160" cy="164160"/>
          </a:xfrm>
          <a:prstGeom prst="rect">
            <a:avLst/>
          </a:prstGeom>
          <a:solidFill>
            <a:srgbClr val="9b6dff"/>
          </a:solidFill>
          <a:ln w="12700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Text 12"/>
          <p:cNvSpPr/>
          <p:nvPr/>
        </p:nvSpPr>
        <p:spPr>
          <a:xfrm>
            <a:off x="1481400" y="2926080"/>
            <a:ext cx="6217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8f8f2"/>
                </a:solidFill>
                <a:latin typeface="Calibri"/>
              </a:rPr>
              <a:t>Solved real engineering bugs: async JS loading, CSS blocks, date types, routing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337" name="Shape 13"/>
          <p:cNvSpPr/>
          <p:nvPr/>
        </p:nvSpPr>
        <p:spPr>
          <a:xfrm>
            <a:off x="1188720" y="3529440"/>
            <a:ext cx="164160" cy="1641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Text 14"/>
          <p:cNvSpPr/>
          <p:nvPr/>
        </p:nvSpPr>
        <p:spPr>
          <a:xfrm>
            <a:off x="1481400" y="3493080"/>
            <a:ext cx="6217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f8f8f2"/>
                </a:solidFill>
                <a:latin typeface="Calibri"/>
              </a:rPr>
              <a:t>Practiced real team Git workflow — branches, PRs, merge conflicts, code reviews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339" name="Shape 15"/>
          <p:cNvSpPr/>
          <p:nvPr/>
        </p:nvSpPr>
        <p:spPr>
          <a:xfrm>
            <a:off x="1188720" y="4160520"/>
            <a:ext cx="6766560" cy="360"/>
          </a:xfrm>
          <a:prstGeom prst="line">
            <a:avLst/>
          </a:prstGeom>
          <a:ln w="6350">
            <a:solidFill>
              <a:srgbClr val="2e2e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Text 16"/>
          <p:cNvSpPr/>
          <p:nvPr/>
        </p:nvSpPr>
        <p:spPr>
          <a:xfrm>
            <a:off x="1188720" y="4224600"/>
            <a:ext cx="6766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750" spc="199" strike="noStrike">
                <a:solidFill>
                  <a:srgbClr val="64648a"/>
                </a:solidFill>
                <a:latin typeface="Calibri"/>
              </a:rPr>
              <a:t>FUTURE IMPROVEMENTS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341" name="Text 17"/>
          <p:cNvSpPr/>
          <p:nvPr/>
        </p:nvSpPr>
        <p:spPr>
          <a:xfrm>
            <a:off x="914400" y="4443840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64648a"/>
                </a:solidFill>
                <a:latin typeface="Calibri"/>
              </a:rPr>
              <a:t>Export CSV  ·  Password hashing (bcrypt)  ·  PostgreSQL  ·  Cloud deployment  ·  Mobile-first redesign  ·  AI habit recommendations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42" name="Shape 18"/>
          <p:cNvSpPr/>
          <p:nvPr/>
        </p:nvSpPr>
        <p:spPr>
          <a:xfrm>
            <a:off x="777240" y="4663440"/>
            <a:ext cx="1416960" cy="246600"/>
          </a:xfrm>
          <a:prstGeom prst="rect">
            <a:avLst/>
          </a:prstGeom>
          <a:solidFill>
            <a:srgbClr val="e0423a">
              <a:alpha val="18000"/>
            </a:srgbClr>
          </a:solidFill>
          <a:ln w="9525">
            <a:solidFill>
              <a:srgbClr val="e042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Text 19"/>
          <p:cNvSpPr/>
          <p:nvPr/>
        </p:nvSpPr>
        <p:spPr>
          <a:xfrm>
            <a:off x="777240" y="466344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e0423a"/>
                </a:solidFill>
                <a:latin typeface="Calibri"/>
              </a:rPr>
              <a:t>Quantis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344" name="Shape 20"/>
          <p:cNvSpPr/>
          <p:nvPr/>
        </p:nvSpPr>
        <p:spPr>
          <a:xfrm>
            <a:off x="2313360" y="4663440"/>
            <a:ext cx="1416960" cy="246600"/>
          </a:xfrm>
          <a:prstGeom prst="rect">
            <a:avLst/>
          </a:prstGeom>
          <a:solidFill>
            <a:srgbClr val="4a8df5">
              <a:alpha val="18000"/>
            </a:srgbClr>
          </a:solidFill>
          <a:ln w="9525">
            <a:solidFill>
              <a:srgbClr val="4a8d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Text 21"/>
          <p:cNvSpPr/>
          <p:nvPr/>
        </p:nvSpPr>
        <p:spPr>
          <a:xfrm>
            <a:off x="2313360" y="466344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4a8df5"/>
                </a:solidFill>
                <a:latin typeface="Calibri"/>
              </a:rPr>
              <a:t>Elida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346" name="Shape 22"/>
          <p:cNvSpPr/>
          <p:nvPr/>
        </p:nvSpPr>
        <p:spPr>
          <a:xfrm>
            <a:off x="3849480" y="4663440"/>
            <a:ext cx="1416960" cy="246600"/>
          </a:xfrm>
          <a:prstGeom prst="rect">
            <a:avLst/>
          </a:prstGeom>
          <a:solidFill>
            <a:srgbClr val="9b6dff">
              <a:alpha val="18000"/>
            </a:srgbClr>
          </a:solidFill>
          <a:ln w="9525">
            <a:solidFill>
              <a:srgbClr val="9b6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Text 23"/>
          <p:cNvSpPr/>
          <p:nvPr/>
        </p:nvSpPr>
        <p:spPr>
          <a:xfrm>
            <a:off x="3849480" y="466344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b6dff"/>
                </a:solidFill>
                <a:latin typeface="Calibri"/>
              </a:rPr>
              <a:t>Thaina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348" name="Shape 24"/>
          <p:cNvSpPr/>
          <p:nvPr/>
        </p:nvSpPr>
        <p:spPr>
          <a:xfrm>
            <a:off x="5385960" y="4663440"/>
            <a:ext cx="1416960" cy="246600"/>
          </a:xfrm>
          <a:prstGeom prst="rect">
            <a:avLst/>
          </a:prstGeom>
          <a:solidFill>
            <a:srgbClr val="f59e0b">
              <a:alpha val="18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25"/>
          <p:cNvSpPr/>
          <p:nvPr/>
        </p:nvSpPr>
        <p:spPr>
          <a:xfrm>
            <a:off x="5385960" y="466344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e0b"/>
                </a:solidFill>
                <a:latin typeface="Calibri"/>
              </a:rPr>
              <a:t>Anthony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350" name="Shape 26"/>
          <p:cNvSpPr/>
          <p:nvPr/>
        </p:nvSpPr>
        <p:spPr>
          <a:xfrm>
            <a:off x="6922080" y="4663440"/>
            <a:ext cx="1416960" cy="246600"/>
          </a:xfrm>
          <a:prstGeom prst="rect">
            <a:avLst/>
          </a:prstGeom>
          <a:solidFill>
            <a:srgbClr val="14b8a6">
              <a:alpha val="18000"/>
            </a:srgbClr>
          </a:solidFill>
          <a:ln w="9525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27"/>
          <p:cNvSpPr/>
          <p:nvPr/>
        </p:nvSpPr>
        <p:spPr>
          <a:xfrm>
            <a:off x="6922080" y="4663440"/>
            <a:ext cx="14169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4b8a6"/>
                </a:solidFill>
                <a:latin typeface="Calibri"/>
              </a:rPr>
              <a:t>Sesilina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View_PPTX_PLUS/7.4.0.3$Windows_X86_64 LibreOffice_project/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2026-03-17T00:11:24Z</dcterms:created>
  <dc:creator>PptxGenJS</dc:creator>
  <dc:description/>
  <dc:language>en-US</dc:language>
  <cp:lastModifiedBy/>
  <dcterms:modified xsi:type="dcterms:W3CDTF">2026-03-16T20:45:36Z</dcterms:modified>
  <cp:revision>2</cp:revision>
  <dc:subject>PptxGenJS Presentation</dc:subject>
  <dc:title>Healthy Habits Tracker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